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8" r:id="rId5"/>
    <p:sldId id="263" r:id="rId6"/>
    <p:sldId id="259" r:id="rId7"/>
    <p:sldId id="272" r:id="rId8"/>
    <p:sldId id="262" r:id="rId9"/>
    <p:sldId id="266" r:id="rId10"/>
    <p:sldId id="270" r:id="rId11"/>
    <p:sldId id="271" r:id="rId12"/>
    <p:sldId id="276" r:id="rId13"/>
    <p:sldId id="275" r:id="rId14"/>
    <p:sldId id="274" r:id="rId15"/>
    <p:sldId id="273" r:id="rId16"/>
    <p:sldId id="277" r:id="rId17"/>
    <p:sldId id="283" r:id="rId18"/>
    <p:sldId id="278" r:id="rId19"/>
    <p:sldId id="279" r:id="rId20"/>
    <p:sldId id="280" r:id="rId21"/>
    <p:sldId id="285" r:id="rId22"/>
    <p:sldId id="281" r:id="rId23"/>
    <p:sldId id="286" r:id="rId24"/>
    <p:sldId id="282" r:id="rId25"/>
    <p:sldId id="284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tags" Target="tags/tag238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image" Target="../media/image4.png"/><Relationship Id="rId7" Type="http://schemas.openxmlformats.org/officeDocument/2006/relationships/tags" Target="../tags/tag127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126.xml"/><Relationship Id="rId3" Type="http://schemas.openxmlformats.org/officeDocument/2006/relationships/image" Target="../media/image1.png"/><Relationship Id="rId2" Type="http://schemas.openxmlformats.org/officeDocument/2006/relationships/tags" Target="../tags/tag12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image" Target="../media/image1.png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image" Target="../media/image5.png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image" Target="../media/image1.png"/><Relationship Id="rId2" Type="http://schemas.openxmlformats.org/officeDocument/2006/relationships/tags" Target="../tags/tag146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image" Target="../media/image4.png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image" Target="../media/image1.png"/><Relationship Id="rId2" Type="http://schemas.openxmlformats.org/officeDocument/2006/relationships/tags" Target="../tags/tag18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rgbClr val="EEB0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 descr="徽标&#10;&#10;AI 生成的内容可能不正确。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270" y="1438159"/>
            <a:ext cx="4494458" cy="3992919"/>
          </a:xfrm>
          <a:prstGeom prst="rect">
            <a:avLst/>
          </a:prstGeom>
        </p:spPr>
      </p:pic>
      <p:pic>
        <p:nvPicPr>
          <p:cNvPr id="11" name="图片 10" descr="徽标&#10;&#10;AI 生成的内容可能不正确。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8" cstate="print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270" y="1438159"/>
            <a:ext cx="4494458" cy="39929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10"/>
            </p:custDataLst>
          </p:nvPr>
        </p:nvSpPr>
        <p:spPr>
          <a:xfrm>
            <a:off x="990600" y="287020"/>
            <a:ext cx="6229350" cy="313118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40404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1"/>
            </p:custDataLst>
          </p:nvPr>
        </p:nvSpPr>
        <p:spPr>
          <a:xfrm>
            <a:off x="990600" y="3561715"/>
            <a:ext cx="6228715" cy="1354455"/>
          </a:xfrm>
        </p:spPr>
        <p:txBody>
          <a:bodyPr wrap="square" lIns="36195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40404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5"/>
            </p:custDataLst>
          </p:nvPr>
        </p:nvSpPr>
        <p:spPr>
          <a:xfrm>
            <a:off x="990600" y="4988560"/>
            <a:ext cx="3048635" cy="504190"/>
          </a:xfrm>
        </p:spPr>
        <p:txBody>
          <a:bodyPr wrap="square" lIns="36195" tIns="0" rIns="0" bIns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rgbClr val="404040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12888" y="2510631"/>
            <a:ext cx="2880000" cy="1081088"/>
          </a:xfrm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图标&#10;&#10;AI 生成的内容可能不正确。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498" y="0"/>
            <a:ext cx="4638502" cy="6858000"/>
          </a:xfrm>
          <a:prstGeom prst="rect">
            <a:avLst/>
          </a:prstGeom>
        </p:spPr>
      </p:pic>
      <p:pic>
        <p:nvPicPr>
          <p:cNvPr id="10" name="图片 9" descr="图标&#10;&#10;AI 生成的内容可能不正确。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 cstate="print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498" y="0"/>
            <a:ext cx="4638502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1323340" y="3540125"/>
            <a:ext cx="6358890" cy="2283460"/>
          </a:xfrm>
        </p:spPr>
        <p:txBody>
          <a:bodyPr wrap="square" anchor="t">
            <a:normAutofit/>
          </a:bodyPr>
          <a:lstStyle>
            <a:lvl1pPr algn="l">
              <a:defRPr sz="5400">
                <a:solidFill>
                  <a:srgbClr val="40404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9"/>
            </p:custDataLst>
          </p:nvPr>
        </p:nvSpPr>
        <p:spPr>
          <a:xfrm>
            <a:off x="1323340" y="1905000"/>
            <a:ext cx="6358890" cy="1537970"/>
          </a:xfrm>
        </p:spPr>
        <p:txBody>
          <a:bodyPr wrap="none" anchor="ctr">
            <a:normAutofit/>
          </a:bodyPr>
          <a:lstStyle>
            <a:lvl1pPr marL="0" indent="0" algn="l">
              <a:buNone/>
              <a:defRPr sz="8800" b="1">
                <a:ln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 descr="徽标&#10;&#10;AI 生成的内容可能不正确。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270" y="1438159"/>
            <a:ext cx="4494458" cy="3992919"/>
          </a:xfrm>
          <a:prstGeom prst="rect">
            <a:avLst/>
          </a:prstGeom>
        </p:spPr>
      </p:pic>
      <p:pic>
        <p:nvPicPr>
          <p:cNvPr id="12" name="图片 11" descr="徽标&#10;&#10;AI 生成的内容可能不正确。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 cstate="print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270" y="1438159"/>
            <a:ext cx="4494458" cy="39929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1066800" y="223520"/>
            <a:ext cx="6756400" cy="325818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600">
                <a:solidFill>
                  <a:srgbClr val="40404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1066800" y="3625215"/>
            <a:ext cx="6756400" cy="1338580"/>
          </a:xfrm>
        </p:spPr>
        <p:txBody>
          <a:bodyPr wrap="square" lIns="36195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rgbClr val="40404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1066800" y="5022850"/>
            <a:ext cx="3136900" cy="504190"/>
          </a:xfrm>
        </p:spPr>
        <p:txBody>
          <a:bodyPr wrap="square" lIns="36195" tIns="0" rIns="0" bIns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rgbClr val="404040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2" Type="http://schemas.openxmlformats.org/officeDocument/2006/relationships/theme" Target="../theme/theme3.xml"/><Relationship Id="rId21" Type="http://schemas.openxmlformats.org/officeDocument/2006/relationships/tags" Target="../tags/tag203.xml"/><Relationship Id="rId20" Type="http://schemas.openxmlformats.org/officeDocument/2006/relationships/tags" Target="../tags/tag202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201.xml"/><Relationship Id="rId18" Type="http://schemas.openxmlformats.org/officeDocument/2006/relationships/tags" Target="../tags/tag200.xml"/><Relationship Id="rId17" Type="http://schemas.openxmlformats.org/officeDocument/2006/relationships/tags" Target="../tags/tag199.xml"/><Relationship Id="rId16" Type="http://schemas.openxmlformats.org/officeDocument/2006/relationships/tags" Target="../tags/tag198.xml"/><Relationship Id="rId15" Type="http://schemas.openxmlformats.org/officeDocument/2006/relationships/tags" Target="../tags/tag197.xml"/><Relationship Id="rId14" Type="http://schemas.openxmlformats.org/officeDocument/2006/relationships/tags" Target="../tags/tag196.xml"/><Relationship Id="rId13" Type="http://schemas.openxmlformats.org/officeDocument/2006/relationships/image" Target="../media/image1.png"/><Relationship Id="rId12" Type="http://schemas.openxmlformats.org/officeDocument/2006/relationships/tags" Target="../tags/tag195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3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圆角矩形 1"/>
          <p:cNvSpPr/>
          <p:nvPr userDrawn="1">
            <p:custDataLst>
              <p:tags r:id="rId15"/>
            </p:custDataLst>
          </p:nvPr>
        </p:nvSpPr>
        <p:spPr>
          <a:xfrm>
            <a:off x="167005" y="119698"/>
            <a:ext cx="11857990" cy="6618605"/>
          </a:xfrm>
          <a:prstGeom prst="roundRect">
            <a:avLst>
              <a:gd name="adj" fmla="val 56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n-ea"/>
              <a:cs typeface="黑体" panose="0201060906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0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0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215.xml"/><Relationship Id="rId2" Type="http://schemas.openxmlformats.org/officeDocument/2006/relationships/image" Target="../media/image6.png"/><Relationship Id="rId1" Type="http://schemas.openxmlformats.org/officeDocument/2006/relationships/tags" Target="../tags/tag2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22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3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23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3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0.xml"/><Relationship Id="rId6" Type="http://schemas.openxmlformats.org/officeDocument/2006/relationships/tags" Target="../tags/tag23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75635" y="2236470"/>
            <a:ext cx="58407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RM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算法组</a:t>
            </a: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具身智能方向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16365" y="5520055"/>
            <a:ext cx="2499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人工智能启明</a:t>
            </a:r>
            <a:r>
              <a:rPr lang="en-US" altLang="zh-CN"/>
              <a:t>2401</a:t>
            </a:r>
            <a:endParaRPr lang="en-US" altLang="zh-CN"/>
          </a:p>
          <a:p>
            <a:pPr algn="ctr"/>
            <a:r>
              <a:rPr lang="zh-CN" altLang="en-US"/>
              <a:t>李泽阳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/>
        </p:nvSpPr>
        <p:spPr>
          <a:xfrm>
            <a:off x="5610225" y="780415"/>
            <a:ext cx="971550" cy="72009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/>
              <a:t>目录</a:t>
            </a:r>
            <a:endParaRPr lang="zh-CN"/>
          </a:p>
        </p:txBody>
      </p:sp>
      <p:sp>
        <p:nvSpPr>
          <p:cNvPr id="6" name="文本框 5"/>
          <p:cNvSpPr txBox="1"/>
          <p:nvPr/>
        </p:nvSpPr>
        <p:spPr>
          <a:xfrm>
            <a:off x="4064000" y="194437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自我介绍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矩阵与坐标系变换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 OpenCV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装甲板灯条检测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目标追踪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分类模型训练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5. Q-Learning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（思路）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/>
          </a:bodyPr>
          <a:p>
            <a:pPr indent="0" fontAlgn="auto">
              <a:lnSpc>
                <a:spcPct val="150000"/>
              </a:lnSpc>
            </a:pPr>
            <a:r>
              <a:rPr lang="zh-CN" sz="2800" b="1">
                <a:solidFill>
                  <a:schemeClr val="hlink"/>
                </a:solidFill>
              </a:rPr>
              <a:t>之前做过的项目：</a:t>
            </a:r>
            <a:endParaRPr lang="zh-CN" sz="2800" b="1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1. </a:t>
            </a:r>
            <a:r>
              <a:rPr lang="zh-CN" altLang="en-US" sz="2800">
                <a:solidFill>
                  <a:schemeClr val="hlink"/>
                </a:solidFill>
              </a:rPr>
              <a:t>去年校机器人大赛，负责</a:t>
            </a:r>
            <a:r>
              <a:rPr lang="en-US" altLang="zh-CN" sz="2800">
                <a:solidFill>
                  <a:schemeClr val="hlink"/>
                </a:solidFill>
              </a:rPr>
              <a:t>arduino</a:t>
            </a:r>
            <a:r>
              <a:rPr lang="zh-CN" altLang="en-US" sz="2800">
                <a:solidFill>
                  <a:schemeClr val="hlink"/>
                </a:solidFill>
              </a:rPr>
              <a:t>程序，实现机械臂夹取，蓝牙串口通讯功能。（由于经费问题，投球功能被砍掉，舵机扭矩也不够，及接线等问题，止步初赛</a:t>
            </a:r>
            <a:r>
              <a:rPr lang="en-US" altLang="zh-CN" sz="2800">
                <a:solidFill>
                  <a:schemeClr val="hlink"/>
                </a:solidFill>
              </a:rPr>
              <a:t>)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2. </a:t>
            </a:r>
            <a:r>
              <a:rPr lang="zh-CN" altLang="en-US" sz="2800">
                <a:solidFill>
                  <a:schemeClr val="hlink"/>
                </a:solidFill>
              </a:rPr>
              <a:t>暑假参加讯飞中医药识别大赛，我的分类模型在</a:t>
            </a:r>
            <a:r>
              <a:rPr lang="en-US" altLang="zh-CN" sz="2800">
                <a:solidFill>
                  <a:schemeClr val="hlink"/>
                </a:solidFill>
              </a:rPr>
              <a:t>54</a:t>
            </a:r>
            <a:r>
              <a:rPr lang="zh-CN" altLang="en-US" sz="2800">
                <a:solidFill>
                  <a:schemeClr val="hlink"/>
                </a:solidFill>
              </a:rPr>
              <a:t>类</a:t>
            </a:r>
            <a:r>
              <a:rPr lang="en-US" altLang="zh-CN" sz="2800">
                <a:solidFill>
                  <a:schemeClr val="hlink"/>
                </a:solidFill>
              </a:rPr>
              <a:t>8500</a:t>
            </a:r>
            <a:r>
              <a:rPr lang="zh-CN" altLang="en-US" sz="2800">
                <a:solidFill>
                  <a:schemeClr val="hlink"/>
                </a:solidFill>
              </a:rPr>
              <a:t>张的样本上获得了</a:t>
            </a:r>
            <a:r>
              <a:rPr lang="en-US" altLang="zh-CN" sz="2800">
                <a:solidFill>
                  <a:schemeClr val="hlink"/>
                </a:solidFill>
              </a:rPr>
              <a:t>Top - 1</a:t>
            </a:r>
            <a:r>
              <a:rPr lang="zh-CN" altLang="en-US" sz="2800">
                <a:solidFill>
                  <a:schemeClr val="hlink"/>
                </a:solidFill>
              </a:rPr>
              <a:t>准确率</a:t>
            </a:r>
            <a:r>
              <a:rPr lang="en-US" altLang="zh-CN" sz="2800">
                <a:solidFill>
                  <a:schemeClr val="hlink"/>
                </a:solidFill>
              </a:rPr>
              <a:t>0.89</a:t>
            </a:r>
            <a:r>
              <a:rPr lang="zh-CN" altLang="en-US" sz="2800">
                <a:solidFill>
                  <a:schemeClr val="hlink"/>
                </a:solidFill>
              </a:rPr>
              <a:t>的成绩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3.</a:t>
            </a:r>
            <a:r>
              <a:rPr lang="zh-CN" altLang="en-US" sz="2800">
                <a:solidFill>
                  <a:schemeClr val="hlink"/>
                </a:solidFill>
              </a:rPr>
              <a:t>大一下</a:t>
            </a:r>
            <a:r>
              <a:rPr lang="en-US" altLang="zh-CN" sz="2800">
                <a:solidFill>
                  <a:schemeClr val="hlink"/>
                </a:solidFill>
              </a:rPr>
              <a:t>C</a:t>
            </a:r>
            <a:r>
              <a:rPr lang="zh-CN" altLang="en-US" sz="2800">
                <a:solidFill>
                  <a:schemeClr val="hlink"/>
                </a:solidFill>
              </a:rPr>
              <a:t>课设</a:t>
            </a:r>
            <a:r>
              <a:rPr lang="en-US" altLang="zh-CN" sz="2800">
                <a:solidFill>
                  <a:schemeClr val="hlink"/>
                </a:solidFill>
              </a:rPr>
              <a:t>“</a:t>
            </a:r>
            <a:r>
              <a:rPr lang="zh-CN" altLang="en-US" sz="2800">
                <a:solidFill>
                  <a:schemeClr val="hlink"/>
                </a:solidFill>
              </a:rPr>
              <a:t>人工智能大楼</a:t>
            </a:r>
            <a:r>
              <a:rPr lang="en-US" altLang="zh-CN" sz="2800">
                <a:solidFill>
                  <a:schemeClr val="hlink"/>
                </a:solidFill>
              </a:rPr>
              <a:t>”</a:t>
            </a:r>
            <a:r>
              <a:rPr lang="zh-CN" altLang="en-US" sz="2800">
                <a:solidFill>
                  <a:schemeClr val="hlink"/>
                </a:solidFill>
              </a:rPr>
              <a:t>项目或</a:t>
            </a:r>
            <a:r>
              <a:rPr lang="en-US" altLang="zh-CN" sz="2800">
                <a:solidFill>
                  <a:schemeClr val="hlink"/>
                </a:solidFill>
              </a:rPr>
              <a:t>B+</a:t>
            </a:r>
            <a:r>
              <a:rPr lang="zh-CN" altLang="en-US" sz="2800">
                <a:solidFill>
                  <a:schemeClr val="hlink"/>
                </a:solidFill>
              </a:rPr>
              <a:t>评价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0. </a:t>
            </a:r>
            <a:r>
              <a:rPr lang="zh-CN" altLang="en-US"/>
              <a:t>自我介绍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 fontScale="90000" lnSpcReduction="10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1.2 </a:t>
            </a:r>
            <a:r>
              <a:rPr lang="zh-CN" altLang="en-US" sz="2800" b="1">
                <a:solidFill>
                  <a:schemeClr val="hlink"/>
                </a:solidFill>
              </a:rPr>
              <a:t>基础任务 </a:t>
            </a:r>
            <a:endParaRPr lang="zh-CN" altLang="en-US" sz="2800" b="1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用 </a:t>
            </a:r>
            <a:r>
              <a:rPr lang="en-US" altLang="zh-CN" sz="2800">
                <a:solidFill>
                  <a:schemeClr val="hlink"/>
                </a:solidFill>
              </a:rPr>
              <a:t>C++</a:t>
            </a:r>
            <a:r>
              <a:rPr lang="zh-CN" altLang="en-US" sz="2800">
                <a:solidFill>
                  <a:schemeClr val="hlink"/>
                </a:solidFill>
              </a:rPr>
              <a:t>实现矩阵类，要求： 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1. </a:t>
            </a:r>
            <a:r>
              <a:rPr lang="zh-CN" altLang="en-US" sz="2800">
                <a:solidFill>
                  <a:schemeClr val="hlink"/>
                </a:solidFill>
              </a:rPr>
              <a:t>数据成员和方法自行设计（提示：内部可以是二维数组），要求能通过构造函数指定产生的矩阵对象的行、列长度 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2. </a:t>
            </a:r>
            <a:r>
              <a:rPr lang="zh-CN" altLang="en-US" sz="2800">
                <a:solidFill>
                  <a:schemeClr val="hlink"/>
                </a:solidFill>
              </a:rPr>
              <a:t>数据元素为浮点型 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3. </a:t>
            </a:r>
            <a:r>
              <a:rPr lang="zh-CN" altLang="en-US" sz="2800">
                <a:solidFill>
                  <a:schemeClr val="hlink"/>
                </a:solidFill>
              </a:rPr>
              <a:t>提供矩阵加法、减法，并能指定行列对元素赋值。对于不正确的（无法完成相应运算） 输入，应该有提示信息 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4. </a:t>
            </a:r>
            <a:r>
              <a:rPr lang="zh-CN" altLang="en-US" sz="2800">
                <a:solidFill>
                  <a:schemeClr val="hlink"/>
                </a:solidFill>
              </a:rPr>
              <a:t>能够以矩阵的形状输出内容，元素间以空格分隔开 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5. </a:t>
            </a:r>
            <a:r>
              <a:rPr lang="zh-CN" altLang="en-US" sz="2800">
                <a:solidFill>
                  <a:schemeClr val="hlink"/>
                </a:solidFill>
              </a:rPr>
              <a:t>自己生成两个矩阵，输出原矩阵；依次完成 </a:t>
            </a:r>
            <a:r>
              <a:rPr lang="en-US" altLang="zh-CN" sz="2800">
                <a:solidFill>
                  <a:schemeClr val="hlink"/>
                </a:solidFill>
              </a:rPr>
              <a:t>3 </a:t>
            </a:r>
            <a:r>
              <a:rPr lang="zh-CN" altLang="en-US" sz="2800">
                <a:solidFill>
                  <a:schemeClr val="hlink"/>
                </a:solidFill>
              </a:rPr>
              <a:t>中的运算，并输出结果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1. </a:t>
            </a:r>
            <a:r>
              <a:rPr lang="zh-CN" altLang="en-US"/>
              <a:t>矩阵与坐标系变换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083945"/>
            <a:ext cx="10102215" cy="5303520"/>
          </a:xfrm>
          <a:prstGeom prst="rect">
            <a:avLst/>
          </a:prstGeom>
        </p:spPr>
        <p:txBody>
          <a:bodyPr wrap="square">
            <a:normAutofit/>
          </a:bodyPr>
          <a:p>
            <a:pPr fontAlgn="auto">
              <a:lnSpc>
                <a:spcPct val="15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1.4 </a:t>
            </a:r>
            <a:r>
              <a:rPr lang="zh-CN" altLang="en-US" sz="2400" b="1">
                <a:solidFill>
                  <a:schemeClr val="hlink"/>
                </a:solidFill>
              </a:rPr>
              <a:t>提高任务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endParaRPr lang="en-US" altLang="zh-CN" sz="2400" b="1">
              <a:solidFill>
                <a:schemeClr val="hlink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>
                <a:solidFill>
                  <a:schemeClr val="hlink"/>
                </a:solidFill>
              </a:rPr>
              <a:t>1. </a:t>
            </a:r>
            <a:r>
              <a:rPr lang="zh-CN" altLang="en-US" sz="2400">
                <a:solidFill>
                  <a:schemeClr val="hlink"/>
                </a:solidFill>
              </a:rPr>
              <a:t>实现二维坐标的组合变换（旋转 + 平移）：给定二维原向量、旋转矩阵和平移向量，按照先旋转后平移的顺序，计算并输出变换后的二维向量</a:t>
            </a:r>
            <a:endParaRPr lang="zh-CN" altLang="en-US" sz="2400">
              <a:solidFill>
                <a:schemeClr val="hlink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2. 使用齐次坐标实现上述组合变换，具体步骤为：</a:t>
            </a:r>
            <a:endParaRPr lang="zh-CN" altLang="en-US" sz="24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将原二维向量转换为齐次坐标</a:t>
            </a:r>
            <a:r>
              <a:rPr lang="en-US" altLang="zh-CN" sz="2400">
                <a:solidFill>
                  <a:schemeClr val="hlink"/>
                </a:solidFill>
              </a:rPr>
              <a:t> -&gt; </a:t>
            </a:r>
            <a:endParaRPr lang="en-US" altLang="zh-CN" sz="24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构造包含旋转和平移的齐次变换矩阵</a:t>
            </a:r>
            <a:r>
              <a:rPr lang="en-US" altLang="zh-CN" sz="2400">
                <a:solidFill>
                  <a:schemeClr val="hlink"/>
                </a:solidFill>
              </a:rPr>
              <a:t> -&gt; </a:t>
            </a:r>
            <a:endParaRPr lang="en-US" altLang="zh-CN" sz="24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通过矩阵乘法完成齐次坐标变换</a:t>
            </a:r>
            <a:r>
              <a:rPr lang="en-US" altLang="zh-CN" sz="2400">
                <a:solidFill>
                  <a:schemeClr val="hlink"/>
                </a:solidFill>
              </a:rPr>
              <a:t> -&gt; </a:t>
            </a:r>
            <a:endParaRPr lang="en-US" altLang="zh-CN" sz="24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将结果转换回二维坐标并输出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1. </a:t>
            </a:r>
            <a:r>
              <a:rPr lang="zh-CN" altLang="en-US"/>
              <a:t>矩阵与坐标系变换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 fontScale="60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矩阵某一单值赋值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void Assignment(size_t i, size_t j, double assign)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if (i &gt;= rows || j &gt;= cols)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	throw invalid_argument("</a:t>
            </a:r>
            <a:r>
              <a:rPr lang="zh-CN" altLang="en-US" sz="2800">
                <a:solidFill>
                  <a:schemeClr val="hlink"/>
                </a:solidFill>
              </a:rPr>
              <a:t>赋值索引越界！</a:t>
            </a:r>
            <a:r>
              <a:rPr lang="en-US" altLang="zh-CN" sz="2800">
                <a:solidFill>
                  <a:schemeClr val="hlink"/>
                </a:solidFill>
              </a:rPr>
              <a:t>");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}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data[i][j] = assign;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}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获取矩阵某一单值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double operator()(size_t i, size_t j) const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return data[i][j];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}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  <a:sym typeface="+mn-ea"/>
              </a:rPr>
              <a:t>初始化构函、零矩阵构函、复制构函（深拷贝）、析构、获取行数、列数等及后续矩阵加、减、乘、哈达玛积、矩阵数乘、同维赋值等略过</a:t>
            </a:r>
            <a:endParaRPr lang="en-US" altLang="zh-CN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1. </a:t>
            </a:r>
            <a:r>
              <a:rPr lang="zh-CN" altLang="en-US"/>
              <a:t>矩阵与坐标系变换</a:t>
            </a:r>
            <a:endParaRPr lang="zh-CN" altLang="en-US"/>
          </a:p>
        </p:txBody>
      </p:sp>
      <p:cxnSp>
        <p:nvCxnSpPr>
          <p:cNvPr id="3" name="曲线连接符 2"/>
          <p:cNvCxnSpPr/>
          <p:nvPr/>
        </p:nvCxnSpPr>
        <p:spPr>
          <a:xfrm rot="10800000" flipV="1">
            <a:off x="7650480" y="1419860"/>
            <a:ext cx="1814195" cy="1022985"/>
          </a:xfrm>
          <a:prstGeom prst="curvedConnector3">
            <a:avLst>
              <a:gd name="adj1" fmla="val -5943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851265" y="1186815"/>
            <a:ext cx="12420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highlight>
                  <a:srgbClr val="FFFF00"/>
                </a:highlight>
              </a:rPr>
              <a:t>另解</a:t>
            </a:r>
            <a:endParaRPr lang="zh-CN" altLang="en-US" sz="2800">
              <a:highlight>
                <a:srgbClr val="FFFF00"/>
              </a:highlight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 fontScale="60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向量空间变换函数，用扩增矩阵法实现端到端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参数说明：初始</a:t>
            </a:r>
            <a:r>
              <a:rPr lang="en-US" altLang="zh-CN" sz="2800">
                <a:solidFill>
                  <a:schemeClr val="hlink"/>
                </a:solidFill>
              </a:rPr>
              <a:t>x</a:t>
            </a:r>
            <a:r>
              <a:rPr lang="zh-CN" altLang="en-US" sz="2800">
                <a:solidFill>
                  <a:schemeClr val="hlink"/>
                </a:solidFill>
              </a:rPr>
              <a:t>，初始</a:t>
            </a:r>
            <a:r>
              <a:rPr lang="en-US" altLang="zh-CN" sz="2800">
                <a:solidFill>
                  <a:schemeClr val="hlink"/>
                </a:solidFill>
              </a:rPr>
              <a:t>y</a:t>
            </a:r>
            <a:r>
              <a:rPr lang="zh-CN" altLang="en-US" sz="2800">
                <a:solidFill>
                  <a:schemeClr val="hlink"/>
                </a:solidFill>
              </a:rPr>
              <a:t>，旋转角，平移</a:t>
            </a:r>
            <a:r>
              <a:rPr lang="en-US" altLang="zh-CN" sz="2800">
                <a:solidFill>
                  <a:schemeClr val="hlink"/>
                </a:solidFill>
              </a:rPr>
              <a:t>x</a:t>
            </a:r>
            <a:r>
              <a:rPr lang="zh-CN" altLang="en-US" sz="2800">
                <a:solidFill>
                  <a:schemeClr val="hlink"/>
                </a:solidFill>
              </a:rPr>
              <a:t>，平移</a:t>
            </a:r>
            <a:r>
              <a:rPr lang="en-US" altLang="zh-CN" sz="2800">
                <a:solidFill>
                  <a:schemeClr val="hlink"/>
                </a:solidFill>
              </a:rPr>
              <a:t>y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static vector&lt;double&gt; TransformVectorV2(double x, double y, double theta, double dx, double dy)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Matrix turn_mat = { {cos(theta),-sin(theta),dx},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		 {sin(theta),cos(theta) ,dy},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		 {0	  ,0	     ,1 } };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Matrix Z_0 = { {x},{y},{1} };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Matrix Z_t = turn_mat * Z_0;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std::vector&lt;double&gt; a = Matrix::ToVector(Z_t);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a.resize(2);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return a;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} </a:t>
            </a:r>
            <a:endParaRPr lang="en-US" altLang="zh-CN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1. </a:t>
            </a:r>
            <a:r>
              <a:rPr lang="zh-CN" altLang="en-US"/>
              <a:t>矩阵与坐标系变换</a:t>
            </a:r>
            <a:endParaRPr lang="zh-CN" altLang="en-US"/>
          </a:p>
        </p:txBody>
      </p:sp>
      <p:pic>
        <p:nvPicPr>
          <p:cNvPr id="3" name="图片 2" descr="task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195" y="481965"/>
            <a:ext cx="2555240" cy="57099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9196705" cy="5222875"/>
          </a:xfrm>
          <a:prstGeom prst="rect">
            <a:avLst/>
          </a:prstGeom>
        </p:spPr>
        <p:txBody>
          <a:bodyPr wrap="square">
            <a:normAutofit fontScale="60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solidFill>
                  <a:schemeClr val="hlink"/>
                </a:solidFill>
                <a:sym typeface="+mn-ea"/>
              </a:rPr>
              <a:t>2.2 </a:t>
            </a:r>
            <a:r>
              <a:rPr lang="zh-CN" altLang="en-US" sz="2800" b="1">
                <a:solidFill>
                  <a:schemeClr val="hlink"/>
                </a:solidFill>
                <a:sym typeface="+mn-ea"/>
              </a:rPr>
              <a:t>基础任务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1. </a:t>
            </a:r>
            <a:r>
              <a:rPr lang="zh-CN" altLang="en-US" sz="2800">
                <a:solidFill>
                  <a:schemeClr val="hlink"/>
                </a:solidFill>
              </a:rPr>
              <a:t>安装</a:t>
            </a:r>
            <a:r>
              <a:rPr lang="en-US" altLang="zh-CN" sz="2800">
                <a:solidFill>
                  <a:schemeClr val="hlink"/>
                </a:solidFill>
              </a:rPr>
              <a:t> OpenCV</a:t>
            </a:r>
            <a:r>
              <a:rPr lang="zh-CN" altLang="en-US" sz="2800">
                <a:solidFill>
                  <a:schemeClr val="hlink"/>
                </a:solidFill>
              </a:rPr>
              <a:t>：记录安装过程中遇到的问题、学到的知识或操作等（</a:t>
            </a:r>
            <a:r>
              <a:rPr lang="en-US" altLang="zh-CN" sz="2800">
                <a:solidFill>
                  <a:schemeClr val="hlink"/>
                </a:solidFill>
              </a:rPr>
              <a:t>Windows </a:t>
            </a:r>
            <a:r>
              <a:rPr lang="zh-CN" altLang="en-US" sz="2800">
                <a:solidFill>
                  <a:schemeClr val="hlink"/>
                </a:solidFill>
              </a:rPr>
              <a:t>下建议使用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Visual Studio</a:t>
            </a:r>
            <a:r>
              <a:rPr lang="zh-CN" altLang="en-US" sz="2800">
                <a:solidFill>
                  <a:schemeClr val="hlink"/>
                </a:solidFill>
              </a:rPr>
              <a:t>，它的界面比较友好，且网上安装</a:t>
            </a:r>
            <a:r>
              <a:rPr lang="en-US" altLang="zh-CN" sz="2800">
                <a:solidFill>
                  <a:schemeClr val="hlink"/>
                </a:solidFill>
              </a:rPr>
              <a:t> OpenCV </a:t>
            </a:r>
            <a:r>
              <a:rPr lang="zh-CN" altLang="en-US" sz="2800">
                <a:solidFill>
                  <a:schemeClr val="hlink"/>
                </a:solidFill>
              </a:rPr>
              <a:t>并使用</a:t>
            </a:r>
            <a:r>
              <a:rPr lang="en-US" altLang="zh-CN" sz="2800">
                <a:solidFill>
                  <a:schemeClr val="hlink"/>
                </a:solidFill>
              </a:rPr>
              <a:t> Visual Studio </a:t>
            </a:r>
            <a:r>
              <a:rPr lang="zh-CN" altLang="en-US" sz="2800">
                <a:solidFill>
                  <a:schemeClr val="hlink"/>
                </a:solidFill>
              </a:rPr>
              <a:t>开发的教程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也比较多）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2. </a:t>
            </a:r>
            <a:r>
              <a:rPr lang="zh-CN" altLang="en-US" sz="2800">
                <a:solidFill>
                  <a:schemeClr val="hlink"/>
                </a:solidFill>
              </a:rPr>
              <a:t>基于</a:t>
            </a:r>
            <a:r>
              <a:rPr lang="en-US" altLang="zh-CN" sz="2800">
                <a:solidFill>
                  <a:schemeClr val="hlink"/>
                </a:solidFill>
              </a:rPr>
              <a:t> OpenCV </a:t>
            </a:r>
            <a:r>
              <a:rPr lang="zh-CN" altLang="en-US" sz="2800">
                <a:solidFill>
                  <a:schemeClr val="hlink"/>
                </a:solidFill>
              </a:rPr>
              <a:t>现有接口，封装一个图像工具类（</a:t>
            </a:r>
            <a:r>
              <a:rPr lang="en-US" altLang="zh-CN" sz="2800">
                <a:solidFill>
                  <a:schemeClr val="hlink"/>
                </a:solidFill>
              </a:rPr>
              <a:t>ImageProcessor</a:t>
            </a:r>
            <a:r>
              <a:rPr lang="zh-CN" altLang="en-US" sz="2800">
                <a:solidFill>
                  <a:schemeClr val="hlink"/>
                </a:solidFill>
              </a:rPr>
              <a:t>），，需体现面向对象设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计思想，功能包括：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zh-CN" altLang="en-US" sz="2800">
                <a:solidFill>
                  <a:schemeClr val="hlink"/>
                </a:solidFill>
              </a:rPr>
              <a:t>初始化：传入图像路径，内部调用</a:t>
            </a:r>
            <a:r>
              <a:rPr lang="en-US" altLang="zh-CN" sz="2800">
                <a:solidFill>
                  <a:schemeClr val="hlink"/>
                </a:solidFill>
              </a:rPr>
              <a:t> OpenCV </a:t>
            </a:r>
            <a:r>
              <a:rPr lang="zh-CN" altLang="en-US" sz="2800">
                <a:solidFill>
                  <a:schemeClr val="hlink"/>
                </a:solidFill>
              </a:rPr>
              <a:t>接口尝试加载图像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zh-CN" altLang="en-US" sz="2800">
                <a:solidFill>
                  <a:schemeClr val="hlink"/>
                </a:solidFill>
              </a:rPr>
              <a:t>基础操作：提供获取图像尺寸、通道数、像素数据的方法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zh-CN" altLang="en-US" sz="2800">
                <a:solidFill>
                  <a:schemeClr val="hlink"/>
                </a:solidFill>
              </a:rPr>
              <a:t>预处理：实现至少</a:t>
            </a:r>
            <a:r>
              <a:rPr lang="en-US" altLang="zh-CN" sz="2800">
                <a:solidFill>
                  <a:schemeClr val="hlink"/>
                </a:solidFill>
              </a:rPr>
              <a:t> 2 </a:t>
            </a:r>
            <a:r>
              <a:rPr lang="zh-CN" altLang="en-US" sz="2800">
                <a:solidFill>
                  <a:schemeClr val="hlink"/>
                </a:solidFill>
              </a:rPr>
              <a:t>种常用预处理功能（包括不仅限于</a:t>
            </a:r>
            <a:r>
              <a:rPr lang="en-US" altLang="zh-CN" sz="2800">
                <a:solidFill>
                  <a:schemeClr val="hlink"/>
                </a:solidFill>
              </a:rPr>
              <a:t> RGB </a:t>
            </a:r>
            <a:r>
              <a:rPr lang="zh-CN" altLang="en-US" sz="2800">
                <a:solidFill>
                  <a:schemeClr val="hlink"/>
                </a:solidFill>
              </a:rPr>
              <a:t>转灰度图、均值模糊去噪）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zh-CN" altLang="en-US" sz="2800">
                <a:solidFill>
                  <a:schemeClr val="hlink"/>
                </a:solidFill>
              </a:rPr>
              <a:t>异常处理：当图像路径无效、格式不支持时，抛出自定义异常并提示具体错误信息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3. </a:t>
            </a:r>
            <a:r>
              <a:rPr lang="zh-CN" altLang="en-US" sz="2800">
                <a:solidFill>
                  <a:schemeClr val="hlink"/>
                </a:solidFill>
              </a:rPr>
              <a:t>在任务</a:t>
            </a:r>
            <a:r>
              <a:rPr lang="en-US" altLang="zh-CN" sz="2800">
                <a:solidFill>
                  <a:schemeClr val="hlink"/>
                </a:solidFill>
              </a:rPr>
              <a:t> 1 </a:t>
            </a:r>
            <a:r>
              <a:rPr lang="zh-CN" altLang="en-US" sz="2800">
                <a:solidFill>
                  <a:schemeClr val="hlink"/>
                </a:solidFill>
              </a:rPr>
              <a:t>的基础上，新增</a:t>
            </a:r>
            <a:r>
              <a:rPr lang="en-US" altLang="zh-CN" sz="2800">
                <a:solidFill>
                  <a:schemeClr val="hlink"/>
                </a:solidFill>
              </a:rPr>
              <a:t> “</a:t>
            </a:r>
            <a:r>
              <a:rPr lang="zh-CN" altLang="en-US" sz="2800">
                <a:solidFill>
                  <a:schemeClr val="hlink"/>
                </a:solidFill>
              </a:rPr>
              <a:t>灯条阈值分割功能</a:t>
            </a:r>
            <a:r>
              <a:rPr lang="en-US" altLang="zh-CN" sz="2800">
                <a:solidFill>
                  <a:schemeClr val="hlink"/>
                </a:solidFill>
              </a:rPr>
              <a:t>”</a:t>
            </a:r>
            <a:r>
              <a:rPr lang="zh-CN" altLang="en-US" sz="2800">
                <a:solidFill>
                  <a:schemeClr val="hlink"/>
                </a:solidFill>
              </a:rPr>
              <a:t>：输入原始图像（通过任务</a:t>
            </a:r>
            <a:r>
              <a:rPr lang="en-US" altLang="zh-CN" sz="2800">
                <a:solidFill>
                  <a:schemeClr val="hlink"/>
                </a:solidFill>
              </a:rPr>
              <a:t> 1 </a:t>
            </a:r>
            <a:r>
              <a:rPr lang="zh-CN" altLang="en-US" sz="2800">
                <a:solidFill>
                  <a:schemeClr val="hlink"/>
                </a:solidFill>
              </a:rPr>
              <a:t>的类获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取），基于颜色或亮度特征进行阈值分割，输出仅保留装甲板灯条候选区域的二值化图像（灯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条区域为前景，其余为背景）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617835" cy="5222875"/>
          </a:xfrm>
          <a:prstGeom prst="rect">
            <a:avLst/>
          </a:prstGeom>
        </p:spPr>
        <p:txBody>
          <a:bodyPr wrap="square">
            <a:normAutofit fontScale="90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2.4 提高任务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基于基础任务</a:t>
            </a:r>
            <a:r>
              <a:rPr lang="en-US" altLang="zh-CN" sz="2800">
                <a:solidFill>
                  <a:schemeClr val="hlink"/>
                </a:solidFill>
              </a:rPr>
              <a:t> 3 </a:t>
            </a:r>
            <a:r>
              <a:rPr lang="zh-CN" altLang="en-US" sz="2800">
                <a:solidFill>
                  <a:schemeClr val="hlink"/>
                </a:solidFill>
              </a:rPr>
              <a:t>输出的二值化图像，筛选出符合装甲板灯条特征的目标</a:t>
            </a:r>
            <a:r>
              <a:rPr lang="en-US" altLang="zh-CN" sz="2800">
                <a:solidFill>
                  <a:schemeClr val="hlink"/>
                </a:solidFill>
              </a:rPr>
              <a:t>: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1.</a:t>
            </a:r>
            <a:r>
              <a:rPr lang="zh-CN" altLang="en-US" sz="2800">
                <a:solidFill>
                  <a:schemeClr val="hlink"/>
                </a:solidFill>
              </a:rPr>
              <a:t>提取二值化图像中的轮廓的外接矩形，计算各轮廓的外接矩形长宽比、面积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2.</a:t>
            </a:r>
            <a:r>
              <a:rPr lang="zh-CN" altLang="en-US" sz="2800">
                <a:solidFill>
                  <a:schemeClr val="hlink"/>
                </a:solidFill>
              </a:rPr>
              <a:t>设定特征筛选条件（如长宽比范围、面积阈值等），保留符合条件的真实灯条轮廓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</a:t>
            </a:r>
            <a:r>
              <a:rPr lang="en-US" altLang="zh-CN" sz="2800">
                <a:solidFill>
                  <a:schemeClr val="hlink"/>
                </a:solidFill>
              </a:rPr>
              <a:t> 3.</a:t>
            </a:r>
            <a:r>
              <a:rPr lang="zh-CN" altLang="en-US" sz="2800">
                <a:solidFill>
                  <a:schemeClr val="hlink"/>
                </a:solidFill>
              </a:rPr>
              <a:t>使用</a:t>
            </a:r>
            <a:r>
              <a:rPr lang="en-US" altLang="zh-CN" sz="2800">
                <a:solidFill>
                  <a:schemeClr val="hlink"/>
                </a:solidFill>
              </a:rPr>
              <a:t> OpenCV </a:t>
            </a:r>
            <a:r>
              <a:rPr lang="zh-CN" altLang="en-US" sz="2800">
                <a:solidFill>
                  <a:schemeClr val="hlink"/>
                </a:solidFill>
              </a:rPr>
              <a:t>的画图工具在原始图像上对筛选出的灯条进行标记，生成并保存</a:t>
            </a:r>
            <a:r>
              <a:rPr lang="en-US" altLang="zh-CN" sz="2800">
                <a:solidFill>
                  <a:schemeClr val="hlink"/>
                </a:solidFill>
              </a:rPr>
              <a:t>/</a:t>
            </a:r>
            <a:r>
              <a:rPr lang="zh-CN" altLang="en-US" sz="2800">
                <a:solidFill>
                  <a:schemeClr val="hlink"/>
                </a:solidFill>
              </a:rPr>
              <a:t>显示可视化结果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 fontScale="70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自定义异常类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class ImageException : public std::exception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private: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std::string message;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public: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ImageException(const std::string&amp; msg) : message(msg) {}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//</a:t>
            </a:r>
            <a:r>
              <a:rPr lang="zh-CN" altLang="en-US" sz="2800">
                <a:solidFill>
                  <a:schemeClr val="hlink"/>
                </a:solidFill>
              </a:rPr>
              <a:t>虚函数重写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const char* what() const noexcept override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	return message.c_str();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}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};</a:t>
            </a:r>
            <a:endParaRPr lang="en-US" altLang="zh-CN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 fontScale="60000"/>
          </a:bodyPr>
          <a:p>
            <a:pPr indent="0" fontAlgn="auto">
              <a:lnSpc>
                <a:spcPct val="150000"/>
              </a:lnSpc>
            </a:pPr>
            <a:r>
              <a:rPr lang="en-US" sz="2800">
                <a:solidFill>
                  <a:schemeClr val="hlink"/>
                </a:solidFill>
              </a:rPr>
              <a:t>imread, imwrite, imshow</a:t>
            </a:r>
            <a:r>
              <a:rPr lang="zh-CN" altLang="en-US" sz="2800">
                <a:solidFill>
                  <a:schemeClr val="hlink"/>
                </a:solidFill>
              </a:rPr>
              <a:t>实现读取、储存及打印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~~~~~~~~~~~~~~~~~~~~~~~~~~~~~~~~~~~~~~~~~~~~~~~~~~~~~~~~~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实现多张图同时显示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CopyImg = Img.clone();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cv::imshow(windowName, CopyImg);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用户输入关闭窗口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cout &lt;&lt; "</a:t>
            </a:r>
            <a:r>
              <a:rPr lang="zh-CN" altLang="en-US" sz="2800">
                <a:solidFill>
                  <a:schemeClr val="hlink"/>
                </a:solidFill>
              </a:rPr>
              <a:t>按任意键关闭本窗口，或按</a:t>
            </a:r>
            <a:r>
              <a:rPr lang="en-US" altLang="zh-CN" sz="2800">
                <a:solidFill>
                  <a:schemeClr val="hlink"/>
                </a:solidFill>
              </a:rPr>
              <a:t>ESC</a:t>
            </a:r>
            <a:r>
              <a:rPr lang="zh-CN" altLang="en-US" sz="2800">
                <a:solidFill>
                  <a:schemeClr val="hlink"/>
                </a:solidFill>
              </a:rPr>
              <a:t>退出进程</a:t>
            </a:r>
            <a:r>
              <a:rPr lang="en-US" altLang="zh-CN" sz="2800">
                <a:solidFill>
                  <a:schemeClr val="hlink"/>
                </a:solidFill>
              </a:rPr>
              <a:t>..." &lt;&lt; endl;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int key = cv::waitKey(0);  // </a:t>
            </a:r>
            <a:r>
              <a:rPr lang="zh-CN" altLang="en-US" sz="2800">
                <a:solidFill>
                  <a:schemeClr val="hlink"/>
                </a:solidFill>
              </a:rPr>
              <a:t>等待按键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检查是否按了</a:t>
            </a:r>
            <a:r>
              <a:rPr lang="en-US" altLang="zh-CN" sz="2800">
                <a:solidFill>
                  <a:schemeClr val="hlink"/>
                </a:solidFill>
              </a:rPr>
              <a:t>ESC</a:t>
            </a:r>
            <a:r>
              <a:rPr lang="zh-CN" altLang="en-US" sz="2800">
                <a:solidFill>
                  <a:schemeClr val="hlink"/>
                </a:solidFill>
              </a:rPr>
              <a:t>键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if (key == 27) {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	exit(0);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}</a:t>
            </a:r>
            <a:endParaRPr lang="en-US" altLang="zh-CN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 fontScale="75000"/>
          </a:bodyPr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1. RGB</a:t>
            </a:r>
            <a:r>
              <a:rPr lang="zh-CN" altLang="en-US" sz="2800">
                <a:solidFill>
                  <a:schemeClr val="hlink"/>
                </a:solidFill>
              </a:rPr>
              <a:t>转灰度图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cv::Mat ToGray()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2. </a:t>
            </a:r>
            <a:r>
              <a:rPr lang="zh-CN" altLang="en-US" sz="2800">
                <a:solidFill>
                  <a:schemeClr val="hlink"/>
                </a:solidFill>
              </a:rPr>
              <a:t>均值模糊去噪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cv::Mat ToMeanBlur(int kernelSize = 5)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3. </a:t>
            </a:r>
            <a:r>
              <a:rPr lang="zh-CN" altLang="en-US" sz="2800">
                <a:solidFill>
                  <a:schemeClr val="hlink"/>
                </a:solidFill>
              </a:rPr>
              <a:t>高斯模糊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cv::Mat ToGaussianBlur(int kernelSize = 5, double sigma = 1.0)</a:t>
            </a:r>
            <a:endParaRPr lang="en-US" altLang="zh-CN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4. </a:t>
            </a:r>
            <a:r>
              <a:rPr lang="zh-CN" altLang="en-US" sz="2800">
                <a:solidFill>
                  <a:schemeClr val="hlink"/>
                </a:solidFill>
              </a:rPr>
              <a:t>图像二值化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// </a:t>
            </a:r>
            <a:r>
              <a:rPr lang="zh-CN" altLang="en-US" sz="2800">
                <a:solidFill>
                  <a:schemeClr val="hlink"/>
                </a:solidFill>
              </a:rPr>
              <a:t>经过反复实验，取</a:t>
            </a:r>
            <a:r>
              <a:rPr lang="en-US" altLang="zh-CN" sz="2800">
                <a:solidFill>
                  <a:schemeClr val="hlink"/>
                </a:solidFill>
              </a:rPr>
              <a:t>105~210</a:t>
            </a:r>
            <a:r>
              <a:rPr lang="zh-CN" altLang="en-US" sz="2800">
                <a:solidFill>
                  <a:schemeClr val="hlink"/>
                </a:solidFill>
              </a:rPr>
              <a:t>时，灯条相对清晰，而轮胎反光误差相对较小，为最佳范围，故设默认值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chemeClr val="hlink"/>
                </a:solidFill>
              </a:rPr>
              <a:t>cv::Mat ToBinary(double MinValue = 105, double MaxValue = 210)</a:t>
            </a:r>
            <a:endParaRPr lang="en-US" altLang="zh-CN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1186815"/>
            <a:ext cx="10240645" cy="5222875"/>
          </a:xfrm>
          <a:prstGeom prst="rect">
            <a:avLst/>
          </a:prstGeom>
        </p:spPr>
        <p:txBody>
          <a:bodyPr wrap="square">
            <a:normAutofit/>
          </a:bodyPr>
          <a:p>
            <a:pPr indent="457200" fontAlgn="auto">
              <a:lnSpc>
                <a:spcPct val="150000"/>
              </a:lnSpc>
            </a:pPr>
            <a:r>
              <a:rPr lang="zh-CN" sz="2800">
                <a:solidFill>
                  <a:schemeClr val="hlink"/>
                </a:solidFill>
              </a:rPr>
              <a:t>由于灰度图对噪音的敏感性，我决定改用</a:t>
            </a:r>
            <a:r>
              <a:rPr lang="en-US" altLang="zh-CN" sz="2800">
                <a:solidFill>
                  <a:schemeClr val="hlink"/>
                </a:solidFill>
              </a:rPr>
              <a:t>HSV</a:t>
            </a:r>
            <a:r>
              <a:rPr lang="zh-CN" altLang="en-US" sz="2800">
                <a:solidFill>
                  <a:schemeClr val="hlink"/>
                </a:solidFill>
              </a:rPr>
              <a:t>，而基于</a:t>
            </a:r>
            <a:r>
              <a:rPr lang="en-US" altLang="zh-CN" sz="2800">
                <a:solidFill>
                  <a:schemeClr val="hlink"/>
                </a:solidFill>
              </a:rPr>
              <a:t>HSV</a:t>
            </a:r>
            <a:r>
              <a:rPr lang="zh-CN" altLang="en-US" sz="2800">
                <a:solidFill>
                  <a:schemeClr val="hlink"/>
                </a:solidFill>
              </a:rPr>
              <a:t>的阈值分割比灰度稍复杂，有</a:t>
            </a:r>
            <a:r>
              <a:rPr lang="en-US" altLang="zh-CN" sz="2800">
                <a:solidFill>
                  <a:schemeClr val="hlink"/>
                </a:solidFill>
              </a:rPr>
              <a:t>3</a:t>
            </a:r>
            <a:r>
              <a:rPr lang="zh-CN" altLang="en-US" sz="2800">
                <a:solidFill>
                  <a:schemeClr val="hlink"/>
                </a:solidFill>
              </a:rPr>
              <a:t>个范围界定，其中由于红色跨</a:t>
            </a:r>
            <a:r>
              <a:rPr lang="en-US" altLang="zh-CN" sz="2800">
                <a:solidFill>
                  <a:schemeClr val="hlink"/>
                </a:solidFill>
              </a:rPr>
              <a:t>0</a:t>
            </a:r>
            <a:r>
              <a:rPr lang="zh-CN" altLang="en-US" sz="2800">
                <a:solidFill>
                  <a:schemeClr val="hlink"/>
                </a:solidFill>
              </a:rPr>
              <a:t>，</a:t>
            </a:r>
            <a:r>
              <a:rPr lang="en-US" altLang="zh-CN" sz="2800">
                <a:solidFill>
                  <a:schemeClr val="hlink"/>
                </a:solidFill>
              </a:rPr>
              <a:t>H</a:t>
            </a:r>
            <a:r>
              <a:rPr lang="zh-CN" altLang="en-US" sz="2800">
                <a:solidFill>
                  <a:schemeClr val="hlink"/>
                </a:solidFill>
              </a:rPr>
              <a:t>需要分两段，为此我延拓了范围，使用户可以输入负数。</a:t>
            </a:r>
            <a:endParaRPr lang="zh-CN" altLang="en-US" sz="28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而基于</a:t>
            </a:r>
            <a:r>
              <a:rPr lang="en-US" altLang="zh-CN" sz="2800">
                <a:solidFill>
                  <a:schemeClr val="hlink"/>
                </a:solidFill>
              </a:rPr>
              <a:t>HSV</a:t>
            </a:r>
            <a:r>
              <a:rPr lang="zh-CN" altLang="en-US" sz="2800">
                <a:solidFill>
                  <a:schemeClr val="hlink"/>
                </a:solidFill>
              </a:rPr>
              <a:t>的灯条检测，边界获取和标注都可以通过</a:t>
            </a:r>
            <a:r>
              <a:rPr lang="en-US" altLang="zh-CN" sz="2800">
                <a:solidFill>
                  <a:schemeClr val="hlink"/>
                </a:solidFill>
              </a:rPr>
              <a:t>openCV</a:t>
            </a:r>
            <a:r>
              <a:rPr lang="zh-CN" altLang="en-US" sz="2800">
                <a:solidFill>
                  <a:schemeClr val="hlink"/>
                </a:solidFill>
              </a:rPr>
              <a:t>库的函数实现。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装甲板灯条检测</a:t>
            </a:r>
            <a:endParaRPr lang="zh-CN" altLang="en-US"/>
          </a:p>
        </p:txBody>
      </p:sp>
      <p:pic>
        <p:nvPicPr>
          <p:cNvPr id="3" name="图片 2" descr="task2-1"/>
          <p:cNvPicPr>
            <a:picLocks noChangeAspect="1"/>
          </p:cNvPicPr>
          <p:nvPr/>
        </p:nvPicPr>
        <p:blipFill>
          <a:blip r:embed="rId1"/>
          <a:srcRect t="3438" r="2279" b="8253"/>
          <a:stretch>
            <a:fillRect/>
          </a:stretch>
        </p:blipFill>
        <p:spPr>
          <a:xfrm>
            <a:off x="550545" y="1532255"/>
            <a:ext cx="5419090" cy="3784600"/>
          </a:xfrm>
          <a:prstGeom prst="rect">
            <a:avLst/>
          </a:prstGeom>
        </p:spPr>
      </p:pic>
      <p:pic>
        <p:nvPicPr>
          <p:cNvPr id="5" name="图片 4" descr="task2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455" y="3733165"/>
            <a:ext cx="7393305" cy="24295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50620" y="949325"/>
            <a:ext cx="10240645" cy="5222875"/>
          </a:xfrm>
          <a:prstGeom prst="rect">
            <a:avLst/>
          </a:prstGeom>
        </p:spPr>
        <p:txBody>
          <a:bodyPr wrap="square">
            <a:noAutofit/>
          </a:bodyPr>
          <a:p>
            <a:pPr indent="457200" fontAlgn="auto">
              <a:lnSpc>
                <a:spcPct val="15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3.1 </a:t>
            </a:r>
            <a:r>
              <a:rPr lang="zh-CN" altLang="en-US" sz="2400" b="1">
                <a:solidFill>
                  <a:schemeClr val="hlink"/>
                </a:solidFill>
              </a:rPr>
              <a:t>基础任务</a:t>
            </a:r>
            <a:r>
              <a:rPr lang="en-US" altLang="zh-CN" sz="2400">
                <a:solidFill>
                  <a:schemeClr val="hlink"/>
                </a:solidFill>
              </a:rPr>
              <a:t> </a:t>
            </a:r>
            <a:endParaRPr lang="en-US" altLang="zh-CN" sz="24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en-US" altLang="zh-CN" sz="2000">
                <a:solidFill>
                  <a:schemeClr val="hlink"/>
                </a:solidFill>
              </a:rPr>
              <a:t>1. </a:t>
            </a:r>
            <a:r>
              <a:rPr lang="zh-CN" altLang="en-US" sz="2000">
                <a:solidFill>
                  <a:schemeClr val="hlink"/>
                </a:solidFill>
              </a:rPr>
              <a:t>模拟装甲板运动；</a:t>
            </a:r>
            <a:endParaRPr lang="zh-CN" altLang="en-US" sz="20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en-US" altLang="zh-CN" sz="2000">
                <a:solidFill>
                  <a:schemeClr val="hlink"/>
                </a:solidFill>
              </a:rPr>
              <a:t>2. </a:t>
            </a:r>
            <a:r>
              <a:rPr lang="zh-CN" sz="2000">
                <a:solidFill>
                  <a:schemeClr val="hlink"/>
                </a:solidFill>
              </a:rPr>
              <a:t>添加观测噪声；</a:t>
            </a:r>
            <a:endParaRPr lang="zh-CN" sz="20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en-US" altLang="zh-CN" sz="2000">
                <a:solidFill>
                  <a:schemeClr val="hlink"/>
                </a:solidFill>
              </a:rPr>
              <a:t>3. </a:t>
            </a:r>
            <a:r>
              <a:rPr lang="zh-CN" altLang="en-US" sz="2000">
                <a:solidFill>
                  <a:schemeClr val="hlink"/>
                </a:solidFill>
              </a:rPr>
              <a:t>添加过程噪声；基于题目</a:t>
            </a:r>
            <a:r>
              <a:rPr lang="en-US" altLang="zh-CN" sz="2000">
                <a:solidFill>
                  <a:schemeClr val="hlink"/>
                </a:solidFill>
              </a:rPr>
              <a:t> 2 </a:t>
            </a:r>
            <a:r>
              <a:rPr lang="zh-CN" altLang="en-US" sz="2000">
                <a:solidFill>
                  <a:schemeClr val="hlink"/>
                </a:solidFill>
              </a:rPr>
              <a:t>的框架，修改运动模型以引入过程噪声，计算并输出</a:t>
            </a:r>
            <a:r>
              <a:rPr lang="en-US" altLang="zh-CN" sz="2000">
                <a:solidFill>
                  <a:schemeClr val="hlink"/>
                </a:solidFill>
              </a:rPr>
              <a:t> 0~t </a:t>
            </a:r>
            <a:r>
              <a:rPr lang="zh-CN" altLang="en-US" sz="2000">
                <a:solidFill>
                  <a:schemeClr val="hlink"/>
                </a:solidFill>
              </a:rPr>
              <a:t>每一离散时刻带测量噪声、过程噪声的位置。</a:t>
            </a:r>
            <a:endParaRPr lang="zh-CN" altLang="en-US" sz="20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3.2 提高任务</a:t>
            </a:r>
            <a:r>
              <a:rPr lang="en-US" altLang="zh-CN" sz="2000">
                <a:solidFill>
                  <a:schemeClr val="hlink"/>
                </a:solidFill>
              </a:rPr>
              <a:t> </a:t>
            </a:r>
            <a:endParaRPr lang="en-US" altLang="zh-CN" sz="2000">
              <a:solidFill>
                <a:schemeClr val="hlink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>
                <a:solidFill>
                  <a:schemeClr val="hlink"/>
                </a:solidFill>
              </a:rPr>
              <a:t>自行学习卡尔曼滤波器（数据融合时的最优解），简述卡尔曼滤波器是如何应对上述存在测量噪声、过程噪声（白噪声）的运动系统，谈谈你的思考。选做：可使用</a:t>
            </a:r>
            <a:r>
              <a:rPr lang="en-US" altLang="zh-CN" sz="2000">
                <a:solidFill>
                  <a:schemeClr val="hlink"/>
                </a:solidFill>
              </a:rPr>
              <a:t> OpenCV </a:t>
            </a:r>
            <a:r>
              <a:rPr lang="zh-CN" altLang="en-US" sz="2000">
                <a:solidFill>
                  <a:schemeClr val="hlink"/>
                </a:solidFill>
              </a:rPr>
              <a:t>内置的卡尔曼滤波器编程实验：一个状态量为</a:t>
            </a:r>
            <a:r>
              <a:rPr lang="en-US" altLang="zh-CN" sz="2000">
                <a:solidFill>
                  <a:schemeClr val="hlink"/>
                </a:solidFill>
              </a:rPr>
              <a:t> 4 </a:t>
            </a:r>
            <a:r>
              <a:rPr lang="zh-CN" altLang="en-US" sz="2000">
                <a:solidFill>
                  <a:schemeClr val="hlink"/>
                </a:solidFill>
              </a:rPr>
              <a:t>维（</a:t>
            </a:r>
            <a:r>
              <a:rPr lang="en-US" altLang="zh-CN" sz="2000">
                <a:solidFill>
                  <a:schemeClr val="hlink"/>
                </a:solidFill>
              </a:rPr>
              <a:t>x</a:t>
            </a:r>
            <a:r>
              <a:rPr lang="zh-CN" altLang="en-US" sz="2000">
                <a:solidFill>
                  <a:schemeClr val="hlink"/>
                </a:solidFill>
              </a:rPr>
              <a:t>、</a:t>
            </a:r>
            <a:r>
              <a:rPr lang="en-US" altLang="zh-CN" sz="2000">
                <a:solidFill>
                  <a:schemeClr val="hlink"/>
                </a:solidFill>
              </a:rPr>
              <a:t>y </a:t>
            </a:r>
            <a:r>
              <a:rPr lang="zh-CN" altLang="en-US" sz="2000">
                <a:solidFill>
                  <a:schemeClr val="hlink"/>
                </a:solidFill>
              </a:rPr>
              <a:t>位置及其速度），观测量为</a:t>
            </a:r>
            <a:r>
              <a:rPr lang="en-US" altLang="zh-CN" sz="2000">
                <a:solidFill>
                  <a:schemeClr val="hlink"/>
                </a:solidFill>
              </a:rPr>
              <a:t> 2 </a:t>
            </a:r>
            <a:r>
              <a:rPr lang="zh-CN" altLang="en-US" sz="2000">
                <a:solidFill>
                  <a:schemeClr val="hlink"/>
                </a:solidFill>
              </a:rPr>
              <a:t>维（</a:t>
            </a:r>
            <a:r>
              <a:rPr lang="en-US" altLang="zh-CN" sz="2000">
                <a:solidFill>
                  <a:schemeClr val="hlink"/>
                </a:solidFill>
              </a:rPr>
              <a:t>x</a:t>
            </a:r>
            <a:r>
              <a:rPr lang="zh-CN" altLang="en-US" sz="2000">
                <a:solidFill>
                  <a:schemeClr val="hlink"/>
                </a:solidFill>
              </a:rPr>
              <a:t>、</a:t>
            </a:r>
            <a:r>
              <a:rPr lang="en-US" altLang="zh-CN" sz="2000">
                <a:solidFill>
                  <a:schemeClr val="hlink"/>
                </a:solidFill>
              </a:rPr>
              <a:t>y </a:t>
            </a:r>
            <a:r>
              <a:rPr lang="zh-CN" altLang="en-US" sz="2000">
                <a:solidFill>
                  <a:schemeClr val="hlink"/>
                </a:solidFill>
              </a:rPr>
              <a:t>位置）线性卡尔曼滤波器。</a:t>
            </a:r>
            <a:endParaRPr lang="zh-CN" altLang="en-US" sz="2000">
              <a:solidFill>
                <a:schemeClr val="hlin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3.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目标追踪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3.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目标追踪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960" y="962025"/>
            <a:ext cx="1093851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卡尔曼滤波器专注于处理线性高斯系统，</a:t>
            </a:r>
            <a:endParaRPr lang="zh-CN" altLang="en-US"/>
          </a:p>
          <a:p>
            <a:r>
              <a:rPr lang="zh-CN" altLang="en-US"/>
              <a:t>擅长处理白噪声，利用统计学思想，噪声的高</a:t>
            </a:r>
            <a:endParaRPr lang="zh-CN" altLang="en-US"/>
          </a:p>
          <a:p>
            <a:r>
              <a:rPr lang="zh-CN" altLang="en-US"/>
              <a:t>斯分布（正态分布）特性优化，拿到本题这样</a:t>
            </a:r>
            <a:endParaRPr lang="zh-CN" altLang="en-US"/>
          </a:p>
          <a:p>
            <a:r>
              <a:rPr lang="zh-CN" altLang="en-US"/>
              <a:t>一个系统，我们首先明确各类迭代量：</a:t>
            </a:r>
            <a:endParaRPr lang="zh-CN" altLang="en-US"/>
          </a:p>
          <a:p>
            <a:r>
              <a:rPr lang="en-US" altLang="zh-CN"/>
              <a:t>   - x, y</a:t>
            </a:r>
            <a:r>
              <a:rPr lang="zh-CN" altLang="en-US"/>
              <a:t>初始实际位置及速度</a:t>
            </a:r>
            <a:endParaRPr lang="zh-CN" altLang="en-US"/>
          </a:p>
          <a:p>
            <a:r>
              <a:rPr lang="en-US" altLang="zh-CN"/>
              <a:t>   - x, y</a:t>
            </a:r>
            <a:r>
              <a:rPr lang="zh-CN" altLang="en-US"/>
              <a:t>位置、速度信息过程噪声</a:t>
            </a:r>
            <a:r>
              <a:rPr lang="en-US" altLang="zh-CN"/>
              <a:t>Q</a:t>
            </a:r>
            <a:r>
              <a:rPr lang="zh-CN" altLang="en-US"/>
              <a:t>、观测噪声</a:t>
            </a:r>
            <a:endParaRPr lang="zh-CN" altLang="en-US"/>
          </a:p>
          <a:p>
            <a:r>
              <a:rPr lang="zh-CN" altLang="en-US"/>
              <a:t>协方差矩阵</a:t>
            </a:r>
            <a:r>
              <a:rPr lang="en-US" altLang="zh-CN"/>
              <a:t>R</a:t>
            </a:r>
            <a:r>
              <a:rPr lang="zh-CN" altLang="en-US"/>
              <a:t>、误差协方差矩阵</a:t>
            </a:r>
            <a:r>
              <a:rPr lang="en-US" altLang="zh-CN"/>
              <a:t>P</a:t>
            </a:r>
            <a:endParaRPr lang="en-US" altLang="zh-CN"/>
          </a:p>
          <a:p>
            <a:r>
              <a:rPr lang="en-US" altLang="zh-CN"/>
              <a:t>   - x, y</a:t>
            </a:r>
            <a:r>
              <a:rPr lang="zh-CN" altLang="en-US"/>
              <a:t>位置及速度的先验值、观测值及最优解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具体过程：</a:t>
            </a:r>
            <a:endParaRPr lang="zh-CN" altLang="en-US"/>
          </a:p>
          <a:p>
            <a:r>
              <a:rPr lang="en-US" altLang="zh-CN"/>
              <a:t>   1. </a:t>
            </a:r>
            <a:r>
              <a:rPr lang="zh-CN" altLang="en-US"/>
              <a:t>由</a:t>
            </a:r>
            <a:r>
              <a:rPr lang="en-US" altLang="zh-CN"/>
              <a:t>t-1</a:t>
            </a:r>
            <a:r>
              <a:rPr lang="zh-CN" altLang="en-US"/>
              <a:t>时刻最优解去预测</a:t>
            </a:r>
            <a:r>
              <a:rPr lang="en-US" altLang="zh-CN"/>
              <a:t>t</a:t>
            </a:r>
            <a:r>
              <a:rPr lang="zh-CN" altLang="en-US"/>
              <a:t>时刻</a:t>
            </a:r>
            <a:r>
              <a:rPr lang="en-US" altLang="zh-CN"/>
              <a:t>x, y</a:t>
            </a:r>
            <a:r>
              <a:rPr lang="zh-CN" altLang="en-US"/>
              <a:t>的位置及速度的先验值</a:t>
            </a:r>
            <a:endParaRPr lang="zh-CN" altLang="en-US"/>
          </a:p>
          <a:p>
            <a:r>
              <a:rPr lang="en-US" altLang="zh-CN"/>
              <a:t>   2. </a:t>
            </a:r>
            <a:r>
              <a:rPr lang="zh-CN" altLang="en-US"/>
              <a:t>由</a:t>
            </a:r>
            <a:r>
              <a:rPr lang="en-US" altLang="zh-CN"/>
              <a:t>t-1</a:t>
            </a:r>
            <a:r>
              <a:rPr lang="zh-CN" altLang="en-US"/>
              <a:t>时刻的误差协方差矩阵</a:t>
            </a:r>
            <a:r>
              <a:rPr lang="en-US" altLang="zh-CN"/>
              <a:t>P(t-1|t-1)</a:t>
            </a:r>
            <a:r>
              <a:rPr lang="zh-CN" altLang="en-US"/>
              <a:t>得到</a:t>
            </a:r>
            <a:r>
              <a:rPr lang="en-US" altLang="zh-CN"/>
              <a:t>t</a:t>
            </a:r>
            <a:r>
              <a:rPr lang="zh-CN" altLang="en-US"/>
              <a:t>时刻先验协方差矩阵</a:t>
            </a:r>
            <a:r>
              <a:rPr lang="en-US" altLang="zh-CN"/>
              <a:t>P(t|t-1)</a:t>
            </a:r>
            <a:endParaRPr lang="en-US" altLang="zh-CN"/>
          </a:p>
          <a:p>
            <a:r>
              <a:rPr lang="en-US" altLang="zh-CN"/>
              <a:t>   3. </a:t>
            </a:r>
            <a:r>
              <a:rPr lang="zh-CN" altLang="en-US"/>
              <a:t>明确观测值</a:t>
            </a:r>
            <a:r>
              <a:rPr lang="en-US" altLang="zh-CN"/>
              <a:t>z(t) = x(t) + v(t)</a:t>
            </a:r>
            <a:r>
              <a:rPr lang="zh-CN" altLang="en-US"/>
              <a:t>（其中</a:t>
            </a:r>
            <a:r>
              <a:rPr lang="en-US" altLang="zh-CN"/>
              <a:t>z</a:t>
            </a:r>
            <a:r>
              <a:rPr lang="zh-CN" altLang="en-US"/>
              <a:t>为观测值，</a:t>
            </a:r>
            <a:r>
              <a:rPr lang="en-US" altLang="zh-CN"/>
              <a:t>x</a:t>
            </a:r>
            <a:r>
              <a:rPr lang="zh-CN" altLang="en-US"/>
              <a:t>为仅考虑过程噪声的先验值，</a:t>
            </a:r>
            <a:r>
              <a:rPr lang="en-US" altLang="zh-CN"/>
              <a:t>v</a:t>
            </a:r>
            <a:r>
              <a:rPr lang="zh-CN" altLang="en-US"/>
              <a:t>为观测噪声）</a:t>
            </a:r>
            <a:endParaRPr lang="zh-CN" altLang="en-US"/>
          </a:p>
          <a:p>
            <a:r>
              <a:rPr lang="en-US" altLang="zh-CN"/>
              <a:t>   4. </a:t>
            </a:r>
            <a:r>
              <a:rPr lang="zh-CN" altLang="en-US"/>
              <a:t>更新卡尔曼增益系数</a:t>
            </a:r>
            <a:r>
              <a:rPr lang="en-US" altLang="zh-CN"/>
              <a:t>Kt</a:t>
            </a:r>
            <a:endParaRPr lang="en-US" altLang="zh-CN"/>
          </a:p>
          <a:p>
            <a:r>
              <a:rPr lang="en-US" altLang="zh-CN"/>
              <a:t>   5. </a:t>
            </a:r>
            <a:r>
              <a:rPr lang="zh-CN" altLang="en-US"/>
              <a:t>由</a:t>
            </a:r>
            <a:r>
              <a:rPr lang="en-US" altLang="zh-CN"/>
              <a:t>Kt</a:t>
            </a:r>
            <a:r>
              <a:rPr lang="zh-CN" altLang="en-US"/>
              <a:t>得出</a:t>
            </a:r>
            <a:r>
              <a:rPr lang="en-US" altLang="zh-CN"/>
              <a:t>t</a:t>
            </a:r>
            <a:r>
              <a:rPr lang="zh-CN" altLang="en-US"/>
              <a:t>时刻最优估计解（由先验值和观测值加权求和）</a:t>
            </a:r>
            <a:endParaRPr lang="zh-CN" altLang="en-US"/>
          </a:p>
          <a:p>
            <a:r>
              <a:rPr lang="en-US" altLang="zh-CN"/>
              <a:t>   6. </a:t>
            </a:r>
            <a:r>
              <a:rPr lang="zh-CN" altLang="en-US"/>
              <a:t>最后更新先验误差协方差矩阵</a:t>
            </a:r>
            <a:r>
              <a:rPr lang="en-US" altLang="zh-CN"/>
              <a:t>P(t|t-1)</a:t>
            </a:r>
            <a:r>
              <a:rPr lang="zh-CN" altLang="en-US"/>
              <a:t>得到</a:t>
            </a:r>
            <a:r>
              <a:rPr lang="en-US" altLang="zh-CN"/>
              <a:t>t</a:t>
            </a:r>
            <a:r>
              <a:rPr lang="zh-CN" altLang="en-US"/>
              <a:t>时刻误差协方差矩阵</a:t>
            </a:r>
            <a:r>
              <a:rPr lang="en-US" altLang="zh-CN"/>
              <a:t>P(t|t)</a:t>
            </a:r>
            <a:r>
              <a:rPr lang="zh-CN" altLang="en-US"/>
              <a:t>，以便下次循环迭代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利用卡尔曼滤波最重要的是调超参</a:t>
            </a:r>
            <a:r>
              <a:rPr lang="en-US" altLang="zh-CN"/>
              <a:t>Q, R</a:t>
            </a:r>
            <a:r>
              <a:rPr lang="zh-CN" altLang="en-US"/>
              <a:t>，因为它们决定了观测量和理论先验量的权重，影响最优估计值，由于</a:t>
            </a:r>
            <a:r>
              <a:rPr lang="en-US" altLang="zh-CN"/>
              <a:t>δt = 10ms</a:t>
            </a:r>
            <a:r>
              <a:rPr lang="zh-CN" altLang="en-US"/>
              <a:t>并不是极小的，因此实际信号会是</a:t>
            </a:r>
            <a:r>
              <a:rPr lang="en-US" altLang="zh-CN"/>
              <a:t>f = 100Hz</a:t>
            </a:r>
            <a:r>
              <a:rPr lang="zh-CN" altLang="en-US"/>
              <a:t>的阶梯状信号与噪声不规则锯齿信号的叠加态，利用卡尔曼滤波能够让信号更平滑</a:t>
            </a:r>
            <a:endParaRPr lang="zh-CN" altLang="en-US"/>
          </a:p>
        </p:txBody>
      </p:sp>
      <p:pic>
        <p:nvPicPr>
          <p:cNvPr id="6" name="图片 5" descr="QQ20251010-1916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415" y="488315"/>
            <a:ext cx="5991225" cy="2514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3.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目标追踪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9440" y="1050925"/>
            <a:ext cx="427926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private:</a:t>
            </a:r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运动参数</a:t>
            </a:r>
            <a:endParaRPr lang="zh-CN" altLang="en-US"/>
          </a:p>
          <a:p>
            <a:r>
              <a:rPr lang="en-US" altLang="zh-CN"/>
              <a:t>    Point initial_position;</a:t>
            </a:r>
            <a:endParaRPr lang="en-US" altLang="zh-CN"/>
          </a:p>
          <a:p>
            <a:r>
              <a:rPr lang="en-US" altLang="zh-CN"/>
              <a:t>    Point initial_velocity;</a:t>
            </a:r>
            <a:endParaRPr lang="en-US" altLang="zh-CN"/>
          </a:p>
          <a:p>
            <a:r>
              <a:rPr lang="en-US" altLang="zh-CN"/>
              <a:t>    double delta_t;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噪声参数</a:t>
            </a:r>
            <a:endParaRPr lang="zh-CN" altLang="en-US"/>
          </a:p>
          <a:p>
            <a:r>
              <a:rPr lang="en-US" altLang="zh-CN"/>
              <a:t>    double measurement_noise_std;</a:t>
            </a:r>
            <a:endParaRPr lang="en-US" altLang="zh-CN"/>
          </a:p>
          <a:p>
            <a:r>
              <a:rPr lang="en-US" altLang="zh-CN"/>
              <a:t>    double process_noise_std;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随机数生成器</a:t>
            </a:r>
            <a:endParaRPr lang="zh-CN" altLang="en-US"/>
          </a:p>
          <a:p>
            <a:r>
              <a:rPr lang="en-US" altLang="zh-CN"/>
              <a:t>    std::default_random_engine generator;</a:t>
            </a:r>
            <a:endParaRPr lang="en-US" altLang="zh-CN"/>
          </a:p>
          <a:p>
            <a:r>
              <a:rPr lang="en-US" altLang="zh-CN"/>
              <a:t>    std::normal_distribution&lt;double&gt; measurement_noise;</a:t>
            </a:r>
            <a:endParaRPr lang="en-US" altLang="zh-CN"/>
          </a:p>
          <a:p>
            <a:r>
              <a:rPr lang="en-US" altLang="zh-CN"/>
              <a:t>    std::normal_distribution&lt;double&gt; process_noise;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878705" y="774065"/>
            <a:ext cx="643509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public:</a:t>
            </a:r>
            <a:endParaRPr lang="en-US" altLang="zh-CN"/>
          </a:p>
          <a:p>
            <a:r>
              <a:rPr lang="en-US" altLang="zh-CN">
                <a:sym typeface="+mn-ea"/>
              </a:rPr>
              <a:t>    Simulator(double initial_x = 0, double initial_y = 0,</a:t>
            </a:r>
            <a:endParaRPr lang="en-US" altLang="zh-CN"/>
          </a:p>
          <a:p>
            <a:r>
              <a:rPr lang="en-US" altLang="zh-CN">
                <a:sym typeface="+mn-ea"/>
              </a:rPr>
              <a:t>        double velocity_x = 2, double velocity_y = 3,</a:t>
            </a:r>
            <a:endParaRPr lang="en-US" altLang="zh-CN"/>
          </a:p>
          <a:p>
            <a:r>
              <a:rPr lang="en-US" altLang="zh-CN">
                <a:sym typeface="+mn-ea"/>
              </a:rPr>
              <a:t>        double delta_time = 0.01,</a:t>
            </a:r>
            <a:endParaRPr lang="en-US" altLang="zh-CN"/>
          </a:p>
          <a:p>
            <a:r>
              <a:rPr lang="en-US" altLang="zh-CN">
                <a:sym typeface="+mn-ea"/>
              </a:rPr>
              <a:t>        double meas_noise_std = 0.5,</a:t>
            </a:r>
            <a:endParaRPr lang="en-US" altLang="zh-CN"/>
          </a:p>
          <a:p>
            <a:r>
              <a:rPr lang="en-US" altLang="zh-CN">
                <a:sym typeface="+mn-ea"/>
              </a:rPr>
              <a:t>        double proc_noise_std = 0.1)</a:t>
            </a:r>
            <a:endParaRPr lang="en-US" altLang="zh-CN"/>
          </a:p>
          <a:p>
            <a:r>
              <a:rPr lang="en-US" altLang="zh-CN">
                <a:sym typeface="+mn-ea"/>
              </a:rPr>
              <a:t>        : initial_position(initial_x, initial_y)</a:t>
            </a:r>
            <a:endParaRPr lang="en-US" altLang="zh-CN"/>
          </a:p>
          <a:p>
            <a:r>
              <a:rPr lang="en-US" altLang="zh-CN">
                <a:sym typeface="+mn-ea"/>
              </a:rPr>
              <a:t>        , initial_velocity(velocity_x, velocity_y)</a:t>
            </a:r>
            <a:endParaRPr lang="en-US" altLang="zh-CN"/>
          </a:p>
          <a:p>
            <a:r>
              <a:rPr lang="en-US" altLang="zh-CN">
                <a:sym typeface="+mn-ea"/>
              </a:rPr>
              <a:t>        , delta_t(delta_time)</a:t>
            </a:r>
            <a:endParaRPr lang="en-US" altLang="zh-CN"/>
          </a:p>
          <a:p>
            <a:r>
              <a:rPr lang="en-US" altLang="zh-CN">
                <a:sym typeface="+mn-ea"/>
              </a:rPr>
              <a:t>        , measurement_noise_std(meas_noise_std)</a:t>
            </a:r>
            <a:endParaRPr lang="en-US" altLang="zh-CN"/>
          </a:p>
          <a:p>
            <a:r>
              <a:rPr lang="en-US" altLang="zh-CN">
                <a:sym typeface="+mn-ea"/>
              </a:rPr>
              <a:t>        , process_noise_std(proc_noise_std)</a:t>
            </a:r>
            <a:endParaRPr lang="en-US" altLang="zh-CN"/>
          </a:p>
          <a:p>
            <a:r>
              <a:rPr lang="en-US" altLang="zh-CN">
                <a:sym typeface="+mn-ea"/>
              </a:rPr>
              <a:t>        , measurement_noise(0, meas_noise_std)</a:t>
            </a:r>
            <a:endParaRPr lang="en-US" altLang="zh-CN"/>
          </a:p>
          <a:p>
            <a:r>
              <a:rPr lang="en-US" altLang="zh-CN">
                <a:sym typeface="+mn-ea"/>
              </a:rPr>
              <a:t>        , process_noise(0, proc_noise_std)</a:t>
            </a:r>
            <a:endParaRPr lang="en-US" altLang="zh-CN"/>
          </a:p>
          <a:p>
            <a:r>
              <a:rPr lang="en-US" altLang="zh-CN">
                <a:sym typeface="+mn-ea"/>
              </a:rPr>
              <a:t>    {</a:t>
            </a:r>
            <a:endParaRPr lang="en-US" altLang="zh-CN"/>
          </a:p>
          <a:p>
            <a:r>
              <a:rPr lang="en-US" altLang="zh-CN">
                <a:sym typeface="+mn-ea"/>
              </a:rPr>
              <a:t>        // </a:t>
            </a:r>
            <a:r>
              <a:rPr lang="zh-CN" altLang="en-US">
                <a:sym typeface="+mn-ea"/>
              </a:rPr>
              <a:t>使用时间作为随机种子</a:t>
            </a:r>
            <a:endParaRPr lang="zh-CN" altLang="en-US"/>
          </a:p>
          <a:p>
            <a:r>
              <a:rPr lang="en-US" altLang="zh-CN">
                <a:sym typeface="+mn-ea"/>
              </a:rPr>
              <a:t>        generator.seed(std::chrono::system_clock::now().time_since_epoch().count());</a:t>
            </a:r>
            <a:endParaRPr lang="en-US" altLang="zh-CN"/>
          </a:p>
          <a:p>
            <a:r>
              <a:rPr lang="en-US" altLang="zh-CN">
                <a:sym typeface="+mn-ea"/>
              </a:rPr>
              <a:t>    }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03170" y="6141085"/>
            <a:ext cx="690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理想状态</a:t>
            </a:r>
            <a:r>
              <a:rPr lang="en-US" altLang="zh-CN"/>
              <a:t>——&gt;</a:t>
            </a:r>
            <a:r>
              <a:rPr lang="zh-CN" altLang="en-US"/>
              <a:t>添加观测噪声</a:t>
            </a:r>
            <a:r>
              <a:rPr lang="en-US" altLang="zh-CN"/>
              <a:t>——&gt;</a:t>
            </a:r>
            <a:r>
              <a:rPr lang="zh-CN" altLang="en-US"/>
              <a:t>添加过程噪声</a:t>
            </a:r>
            <a:r>
              <a:rPr lang="en-US" altLang="zh-CN"/>
              <a:t>——&gt;</a:t>
            </a:r>
            <a:r>
              <a:rPr lang="zh-CN" altLang="en-US"/>
              <a:t>可视化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3.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目标追踪</a:t>
            </a:r>
            <a:endParaRPr lang="zh-CN" altLang="en-US"/>
          </a:p>
        </p:txBody>
      </p:sp>
      <p:pic>
        <p:nvPicPr>
          <p:cNvPr id="6" name="图片 5" descr="task3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10" y="2020570"/>
            <a:ext cx="10632440" cy="4186555"/>
          </a:xfrm>
          <a:prstGeom prst="rect">
            <a:avLst/>
          </a:prstGeom>
        </p:spPr>
      </p:pic>
      <p:pic>
        <p:nvPicPr>
          <p:cNvPr id="7" name="图片 6" descr="task3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730" y="893445"/>
            <a:ext cx="1969135" cy="43224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分类模型训练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9440" y="1050925"/>
            <a:ext cx="1127125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我暑假时参加了一个中医药图片分类大赛，保留了训练好的</a:t>
            </a:r>
            <a:r>
              <a:rPr lang="en-US" altLang="zh-CN" sz="1600"/>
              <a:t>Res50, Res101, Dense169, Vit_L_16</a:t>
            </a:r>
            <a:r>
              <a:rPr lang="zh-CN" altLang="en-US" sz="1600"/>
              <a:t>的相关模型及微调过的参数，然而发现这些模型参数量都偏大，计算量偏高，不适宜移植，也不符合题目要求，于是我就直接在当时</a:t>
            </a:r>
            <a:r>
              <a:rPr lang="en-US" altLang="zh-CN" sz="1600"/>
              <a:t>Res50</a:t>
            </a:r>
            <a:r>
              <a:rPr lang="zh-CN" altLang="en-US" sz="1600"/>
              <a:t>的源码上稍作修改重新</a:t>
            </a:r>
            <a:r>
              <a:rPr lang="en-US" altLang="zh-CN" sz="1600"/>
              <a:t>train</a:t>
            </a:r>
            <a:r>
              <a:rPr lang="zh-CN" altLang="en-US" sz="1600"/>
              <a:t>了一个</a:t>
            </a:r>
            <a:r>
              <a:rPr lang="en-US" altLang="zh-CN" sz="1600"/>
              <a:t>Res18</a:t>
            </a:r>
            <a:r>
              <a:rPr lang="zh-CN" altLang="en-US" sz="1600"/>
              <a:t>，由于时间问题，我没有继续尝试</a:t>
            </a:r>
            <a:r>
              <a:rPr lang="en-US" altLang="zh-CN" sz="1600"/>
              <a:t>MobileNet</a:t>
            </a:r>
            <a:r>
              <a:rPr lang="zh-CN" altLang="en-US" sz="1600"/>
              <a:t>等更加轻量化的</a:t>
            </a:r>
            <a:r>
              <a:rPr lang="en-US" altLang="zh-CN" sz="1600"/>
              <a:t>model</a:t>
            </a:r>
            <a:r>
              <a:rPr lang="zh-CN" altLang="en-US" sz="1600"/>
              <a:t>，我认为它们的性能也应该不差。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1.</a:t>
            </a:r>
            <a:r>
              <a:rPr lang="zh-CN" altLang="en-US" sz="1600"/>
              <a:t>结果分析</a:t>
            </a:r>
            <a:endParaRPr lang="en-US" altLang="zh-CN" sz="1600"/>
          </a:p>
          <a:p>
            <a:r>
              <a:rPr lang="en-US" altLang="zh-CN" sz="1600"/>
              <a:t>output</a:t>
            </a:r>
            <a:r>
              <a:rPr lang="zh-CN" altLang="en-US" sz="1600"/>
              <a:t>文件夹中存放了</a:t>
            </a:r>
            <a:r>
              <a:rPr lang="en-US" altLang="zh-CN" sz="1600"/>
              <a:t>tensorboard</a:t>
            </a:r>
            <a:r>
              <a:rPr lang="zh-CN" altLang="en-US" sz="1600"/>
              <a:t>界面展示及程序运行结果，其中</a:t>
            </a:r>
            <a:r>
              <a:rPr lang="en-US" altLang="zh-CN" sz="1600"/>
              <a:t>"res18\50_test"</a:t>
            </a:r>
            <a:r>
              <a:rPr lang="zh-CN" altLang="en-US" sz="1600"/>
              <a:t>和</a:t>
            </a:r>
            <a:r>
              <a:rPr lang="en-US" altLang="zh-CN" sz="1600"/>
              <a:t>"res16\50_testV2"</a:t>
            </a:r>
            <a:r>
              <a:rPr lang="zh-CN" altLang="en-US" sz="1600"/>
              <a:t>这两对图片分别是数据增强改进前后的运行结果，当改进数据增强方式后，使用</a:t>
            </a:r>
            <a:r>
              <a:rPr lang="en-US" altLang="zh-CN" sz="1600"/>
              <a:t>ResNet18</a:t>
            </a:r>
            <a:r>
              <a:rPr lang="zh-CN" altLang="en-US" sz="1600"/>
              <a:t>达到了性能最佳，测试集上准确率高达</a:t>
            </a:r>
            <a:r>
              <a:rPr lang="en-US" altLang="zh-CN" sz="1600"/>
              <a:t>99.31%</a:t>
            </a:r>
            <a:r>
              <a:rPr lang="zh-CN" altLang="en-US" sz="1600"/>
              <a:t>，而</a:t>
            </a:r>
            <a:r>
              <a:rPr lang="en-US" altLang="zh-CN" sz="1600"/>
              <a:t>ResNet50</a:t>
            </a:r>
            <a:r>
              <a:rPr lang="zh-CN" altLang="en-US" sz="1600"/>
              <a:t>性能略差于</a:t>
            </a:r>
            <a:r>
              <a:rPr lang="en-US" altLang="zh-CN" sz="1600"/>
              <a:t>18</a:t>
            </a:r>
            <a:r>
              <a:rPr lang="zh-CN" altLang="en-US" sz="1600"/>
              <a:t>，可能原因是优化器和</a:t>
            </a:r>
            <a:r>
              <a:rPr lang="en-US" altLang="zh-CN" sz="1600"/>
              <a:t>scheduler</a:t>
            </a:r>
            <a:r>
              <a:rPr lang="zh-CN" altLang="en-US" sz="1600"/>
              <a:t>的超参数选用的是默认的</a:t>
            </a:r>
            <a:r>
              <a:rPr lang="en-US" altLang="zh-CN" sz="1600"/>
              <a:t>18</a:t>
            </a:r>
            <a:r>
              <a:rPr lang="zh-CN" altLang="en-US" sz="1600"/>
              <a:t>的超参数，和</a:t>
            </a:r>
            <a:r>
              <a:rPr lang="en-US" altLang="zh-CN" sz="1600"/>
              <a:t>50</a:t>
            </a:r>
            <a:r>
              <a:rPr lang="zh-CN" altLang="en-US" sz="1600"/>
              <a:t>略有不匹配。此外还有一部分原因是本题的各类别间差别过大，只需要浅层线条、形状、颜色特征即可分别，而</a:t>
            </a:r>
            <a:r>
              <a:rPr lang="en-US" altLang="zh-CN" sz="1600"/>
              <a:t>ResNet50</a:t>
            </a:r>
            <a:r>
              <a:rPr lang="zh-CN" altLang="en-US" sz="1600"/>
              <a:t>高层提取的复杂语义特征重要性不大。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2.</a:t>
            </a:r>
            <a:r>
              <a:rPr lang="zh-CN" altLang="en-US" sz="1600"/>
              <a:t>数据集处理</a:t>
            </a:r>
            <a:endParaRPr lang="en-US" altLang="zh-CN" sz="1600"/>
          </a:p>
          <a:p>
            <a:r>
              <a:rPr lang="zh-CN" altLang="en-US" sz="1600"/>
              <a:t>由于题目所给的文件夹里并未明确标注测试集和训练集，所以用</a:t>
            </a:r>
            <a:r>
              <a:rPr lang="en-US" altLang="zh-CN" sz="1600"/>
              <a:t>"SplitDir.py"</a:t>
            </a:r>
            <a:r>
              <a:rPr lang="zh-CN" altLang="en-US" sz="1600"/>
              <a:t>程序将其划分并整理成</a:t>
            </a:r>
            <a:r>
              <a:rPr lang="en-US" altLang="zh-CN" sz="1600"/>
              <a:t>ImageFolder</a:t>
            </a:r>
            <a:r>
              <a:rPr lang="zh-CN" altLang="en-US" sz="1600"/>
              <a:t>格式，具体按照</a:t>
            </a:r>
            <a:r>
              <a:rPr lang="en-US" altLang="zh-CN" sz="1600"/>
              <a:t>Train:Val:Test = 8:1:1</a:t>
            </a:r>
            <a:r>
              <a:rPr lang="zh-CN" altLang="en-US" sz="1600"/>
              <a:t>比例划分，数据增强时</a:t>
            </a:r>
            <a:r>
              <a:rPr lang="en-US" altLang="zh-CN" sz="1600"/>
              <a:t>Train_Set</a:t>
            </a:r>
            <a:r>
              <a:rPr lang="zh-CN" altLang="en-US" sz="1600"/>
              <a:t>采用随机缩放、分割、裁剪，而</a:t>
            </a:r>
            <a:r>
              <a:rPr lang="en-US" altLang="zh-CN" sz="1600"/>
              <a:t>Val_Set</a:t>
            </a:r>
            <a:r>
              <a:rPr lang="zh-CN" altLang="en-US" sz="1600"/>
              <a:t>和</a:t>
            </a:r>
            <a:r>
              <a:rPr lang="en-US" altLang="zh-CN" sz="1600"/>
              <a:t>Test_Set</a:t>
            </a:r>
            <a:r>
              <a:rPr lang="zh-CN" altLang="en-US" sz="1600"/>
              <a:t>选用固定比例变换，从而提升准确率。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3.</a:t>
            </a:r>
            <a:r>
              <a:rPr lang="zh-CN" altLang="en-US" sz="1600"/>
              <a:t>模型架构</a:t>
            </a:r>
            <a:endParaRPr lang="en-US" altLang="zh-CN" sz="1600"/>
          </a:p>
          <a:p>
            <a:r>
              <a:rPr lang="zh-CN" altLang="en-US" sz="1600"/>
              <a:t>本题采用</a:t>
            </a:r>
            <a:r>
              <a:rPr lang="en-US" altLang="zh-CN" sz="1600"/>
              <a:t>ResNet18\50 + SE_Block + FC</a:t>
            </a:r>
            <a:r>
              <a:rPr lang="zh-CN" altLang="en-US" sz="1600"/>
              <a:t>，残差网络模块用于提取图片特征，</a:t>
            </a:r>
            <a:r>
              <a:rPr lang="en-US" altLang="zh-CN" sz="1600"/>
              <a:t>SE</a:t>
            </a:r>
            <a:r>
              <a:rPr lang="zh-CN" altLang="en-US" sz="1600"/>
              <a:t>模块用于增强通道间注意力、整合信息，最后设计</a:t>
            </a:r>
            <a:r>
              <a:rPr lang="en-US" altLang="zh-CN" sz="1600"/>
              <a:t>FC</a:t>
            </a:r>
            <a:r>
              <a:rPr lang="zh-CN" altLang="en-US" sz="1600"/>
              <a:t>层是分类头，由于预训练官方参数及原网络设计是分类</a:t>
            </a:r>
            <a:r>
              <a:rPr lang="en-US" altLang="zh-CN" sz="1600"/>
              <a:t>1000</a:t>
            </a:r>
            <a:r>
              <a:rPr lang="zh-CN" altLang="en-US" sz="1600"/>
              <a:t>种</a:t>
            </a:r>
            <a:r>
              <a:rPr lang="en-US" altLang="zh-CN" sz="1600"/>
              <a:t>ImageNet</a:t>
            </a:r>
            <a:r>
              <a:rPr lang="zh-CN" altLang="en-US" sz="1600"/>
              <a:t>数据集，而本题只需分类</a:t>
            </a:r>
            <a:r>
              <a:rPr lang="en-US" altLang="zh-CN" sz="1600"/>
              <a:t>8</a:t>
            </a:r>
            <a:r>
              <a:rPr lang="zh-CN" altLang="en-US" sz="1600"/>
              <a:t>种，故需要改变分类头。</a:t>
            </a:r>
            <a:endParaRPr lang="zh-CN" altLang="en-US" sz="1600"/>
          </a:p>
          <a:p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分类模型训练</a:t>
            </a:r>
            <a:endParaRPr lang="zh-CN" altLang="en-US"/>
          </a:p>
        </p:txBody>
      </p:sp>
      <p:pic>
        <p:nvPicPr>
          <p:cNvPr id="3" name="图片 2" descr="tensorboard_val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55" y="1066165"/>
            <a:ext cx="4091940" cy="4391660"/>
          </a:xfrm>
          <a:prstGeom prst="rect">
            <a:avLst/>
          </a:prstGeom>
        </p:spPr>
      </p:pic>
      <p:pic>
        <p:nvPicPr>
          <p:cNvPr id="4" name="图片 3" descr="tensorboard_valA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45" y="1332230"/>
            <a:ext cx="3639185" cy="4145280"/>
          </a:xfrm>
          <a:prstGeom prst="rect">
            <a:avLst/>
          </a:prstGeom>
        </p:spPr>
      </p:pic>
      <p:pic>
        <p:nvPicPr>
          <p:cNvPr id="6" name="图片 5" descr="tensorboard_trainl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745" y="1184910"/>
            <a:ext cx="3770630" cy="4272915"/>
          </a:xfrm>
          <a:prstGeom prst="rect">
            <a:avLst/>
          </a:prstGeom>
        </p:spPr>
      </p:pic>
      <p:pic>
        <p:nvPicPr>
          <p:cNvPr id="7" name="图片 6" descr="tensorboard_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065" y="2769870"/>
            <a:ext cx="6758940" cy="3708400"/>
          </a:xfrm>
          <a:prstGeom prst="rect">
            <a:avLst/>
          </a:prstGeom>
        </p:spPr>
      </p:pic>
      <p:pic>
        <p:nvPicPr>
          <p:cNvPr id="8" name="图片 7" descr="res18_testV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45" y="1066165"/>
            <a:ext cx="4286250" cy="50787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95960" y="17331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5. Q-Learning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（思路）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9440" y="1050925"/>
            <a:ext cx="112712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遍历算法：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1.</a:t>
            </a:r>
            <a:r>
              <a:rPr lang="zh-CN" altLang="en-US" sz="1600"/>
              <a:t>对于一个有边界迷宫，我们可以将边界全部设置为</a:t>
            </a:r>
            <a:r>
              <a:rPr lang="en-US" altLang="zh-CN" sz="1600"/>
              <a:t>"T"</a:t>
            </a:r>
            <a:r>
              <a:rPr lang="zh-CN" altLang="en-US" sz="1600"/>
              <a:t>，即若原图</a:t>
            </a:r>
            <a:r>
              <a:rPr lang="en-US" altLang="zh-CN" sz="1600"/>
              <a:t>G1</a:t>
            </a:r>
            <a:r>
              <a:rPr lang="zh-CN" altLang="en-US" sz="1600"/>
              <a:t>大小</a:t>
            </a:r>
            <a:r>
              <a:rPr lang="en-US" altLang="zh-CN" sz="1600"/>
              <a:t>m*m</a:t>
            </a:r>
            <a:r>
              <a:rPr lang="zh-CN" altLang="en-US" sz="1600"/>
              <a:t>，则输入矩阵为</a:t>
            </a:r>
            <a:r>
              <a:rPr lang="en-US" altLang="zh-CN" sz="1600"/>
              <a:t>(m+2)*(m+2)</a:t>
            </a:r>
            <a:r>
              <a:rPr lang="zh-CN" altLang="en-US" sz="1600"/>
              <a:t>；</a:t>
            </a:r>
            <a:endParaRPr lang="zh-CN" altLang="en-US" sz="1600"/>
          </a:p>
          <a:p>
            <a:r>
              <a:rPr lang="en-US" altLang="zh-CN" sz="1600"/>
              <a:t>2.</a:t>
            </a:r>
            <a:r>
              <a:rPr lang="zh-CN" altLang="en-US" sz="1600"/>
              <a:t>判断起止点关系（本题中为起点左上</a:t>
            </a:r>
            <a:r>
              <a:rPr lang="en-US" altLang="zh-CN" sz="1600"/>
              <a:t>(0,0)</a:t>
            </a:r>
            <a:r>
              <a:rPr lang="zh-CN" altLang="en-US" sz="1600"/>
              <a:t>，终点右下</a:t>
            </a:r>
            <a:r>
              <a:rPr lang="en-US" altLang="zh-CN" sz="1600"/>
              <a:t>(5,5)</a:t>
            </a:r>
            <a:r>
              <a:rPr lang="zh-CN" altLang="en-US" sz="1600"/>
              <a:t>），最开始向右</a:t>
            </a:r>
            <a:r>
              <a:rPr lang="en-US" altLang="zh-CN" sz="1600"/>
              <a:t>\</a:t>
            </a:r>
            <a:r>
              <a:rPr lang="zh-CN" altLang="en-US" sz="1600"/>
              <a:t>向下走，每一步都按照优先级</a:t>
            </a:r>
            <a:r>
              <a:rPr lang="en-US" altLang="zh-CN" sz="1600"/>
              <a:t>“</a:t>
            </a:r>
            <a:r>
              <a:rPr lang="zh-CN" altLang="en-US" sz="1600"/>
              <a:t>上一步方向</a:t>
            </a:r>
            <a:r>
              <a:rPr lang="en-US" altLang="zh-CN" sz="1600"/>
              <a:t>-&gt;</a:t>
            </a:r>
            <a:r>
              <a:rPr lang="zh-CN" altLang="en-US" sz="1600"/>
              <a:t>（若不重复）向右</a:t>
            </a:r>
            <a:r>
              <a:rPr lang="en-US" altLang="zh-CN" sz="1600"/>
              <a:t>\</a:t>
            </a:r>
            <a:r>
              <a:rPr lang="zh-CN" altLang="en-US" sz="1600"/>
              <a:t>向下</a:t>
            </a:r>
            <a:r>
              <a:rPr lang="en-US" altLang="zh-CN" sz="1600"/>
              <a:t>-&gt;</a:t>
            </a:r>
            <a:r>
              <a:rPr lang="zh-CN" altLang="en-US" sz="1600"/>
              <a:t>向左</a:t>
            </a:r>
            <a:r>
              <a:rPr lang="en-US" altLang="zh-CN" sz="1600"/>
              <a:t>\</a:t>
            </a:r>
            <a:r>
              <a:rPr lang="zh-CN" altLang="en-US" sz="1600"/>
              <a:t>向上</a:t>
            </a:r>
            <a:r>
              <a:rPr lang="en-US" altLang="zh-CN" sz="1600"/>
              <a:t>”</a:t>
            </a:r>
            <a:r>
              <a:rPr lang="zh-CN" altLang="en-US" sz="1600"/>
              <a:t>遍历（不走回头路），如果为</a:t>
            </a:r>
            <a:r>
              <a:rPr lang="en-US" altLang="zh-CN" sz="1600"/>
              <a:t>"T"</a:t>
            </a:r>
            <a:r>
              <a:rPr lang="zh-CN" altLang="en-US" sz="1600"/>
              <a:t>，则找下一优先级，直到找到</a:t>
            </a:r>
            <a:r>
              <a:rPr lang="en-US" altLang="zh-CN" sz="1600"/>
              <a:t>"O"</a:t>
            </a:r>
            <a:r>
              <a:rPr lang="zh-CN" altLang="en-US" sz="1600"/>
              <a:t>（可走位置），确定下一步方向；</a:t>
            </a:r>
            <a:endParaRPr lang="zh-CN" altLang="en-US" sz="1600"/>
          </a:p>
          <a:p>
            <a:r>
              <a:rPr lang="en-US" altLang="zh-CN" sz="1600"/>
              <a:t>3.</a:t>
            </a:r>
            <a:r>
              <a:rPr lang="zh-CN" altLang="en-US" sz="1600"/>
              <a:t>如遇到分叉点先存储记录该点位置，而后走优先级高的那一条路；</a:t>
            </a:r>
            <a:endParaRPr lang="zh-CN" altLang="en-US" sz="1600"/>
          </a:p>
          <a:p>
            <a:r>
              <a:rPr lang="en-US" altLang="zh-CN" sz="1600"/>
              <a:t>4.</a:t>
            </a:r>
            <a:r>
              <a:rPr lang="zh-CN" altLang="en-US" sz="1600"/>
              <a:t>如果遇到</a:t>
            </a:r>
            <a:r>
              <a:rPr lang="en-US" altLang="zh-CN" sz="1600"/>
              <a:t>“</a:t>
            </a:r>
            <a:r>
              <a:rPr lang="zh-CN" altLang="en-US" sz="1600"/>
              <a:t>死胡同</a:t>
            </a:r>
            <a:r>
              <a:rPr lang="en-US" altLang="zh-CN" sz="1600"/>
              <a:t>”</a:t>
            </a:r>
            <a:r>
              <a:rPr lang="zh-CN" altLang="en-US" sz="1600"/>
              <a:t>，即某一步遍历所有方向（不掉头）下一步位置均为</a:t>
            </a:r>
            <a:r>
              <a:rPr lang="en-US" altLang="zh-CN" sz="1600"/>
              <a:t>"T"</a:t>
            </a:r>
            <a:r>
              <a:rPr lang="zh-CN" altLang="en-US" sz="1600"/>
              <a:t>（陷阱），则退回到上一次最近的分叉点，选择下一优先级的路走，并且将上次未走通的那条支路上所有的</a:t>
            </a:r>
            <a:r>
              <a:rPr lang="en-US" altLang="zh-CN" sz="1600"/>
              <a:t>"O"</a:t>
            </a:r>
            <a:r>
              <a:rPr lang="zh-CN" altLang="en-US" sz="1600"/>
              <a:t>（可走位置）标记为</a:t>
            </a:r>
            <a:r>
              <a:rPr lang="en-US" altLang="zh-CN" sz="1600"/>
              <a:t>"T"</a:t>
            </a:r>
            <a:r>
              <a:rPr lang="zh-CN" altLang="en-US" sz="1600"/>
              <a:t>，我们称这些点为</a:t>
            </a:r>
            <a:r>
              <a:rPr lang="en-US" altLang="zh-CN" sz="1600"/>
              <a:t>“</a:t>
            </a:r>
            <a:r>
              <a:rPr lang="zh-CN" altLang="en-US" sz="1600"/>
              <a:t>无效可走位置</a:t>
            </a:r>
            <a:r>
              <a:rPr lang="en-US" altLang="zh-CN" sz="1600"/>
              <a:t>”</a:t>
            </a:r>
            <a:r>
              <a:rPr lang="zh-CN" altLang="en-US" sz="1600"/>
              <a:t>，即最优路径必然不会经过这些点；</a:t>
            </a:r>
            <a:endParaRPr lang="zh-CN" altLang="en-US" sz="1600"/>
          </a:p>
          <a:p>
            <a:r>
              <a:rPr lang="en-US" altLang="zh-CN" sz="1600"/>
              <a:t>5.</a:t>
            </a:r>
            <a:r>
              <a:rPr lang="zh-CN" altLang="en-US" sz="1600"/>
              <a:t>按照</a:t>
            </a:r>
            <a:r>
              <a:rPr lang="en-US" altLang="zh-CN" sz="1600"/>
              <a:t>2~4</a:t>
            </a:r>
            <a:r>
              <a:rPr lang="zh-CN" altLang="en-US" sz="1600"/>
              <a:t>的方式，如果从起点到终点至少存在一条通路，那么必然能够遍历到，最大计算量级为</a:t>
            </a:r>
            <a:r>
              <a:rPr lang="en-US" altLang="zh-CN" sz="1600"/>
              <a:t>O(m^2)</a:t>
            </a:r>
            <a:r>
              <a:rPr lang="zh-CN" altLang="en-US" sz="1600"/>
              <a:t>，然而考虑到陷阱存在，即可走位置的稀疏性，故最大计算量级为</a:t>
            </a:r>
            <a:r>
              <a:rPr lang="en-US" altLang="zh-CN" sz="1600"/>
              <a:t>O(m*lnm)</a:t>
            </a:r>
            <a:r>
              <a:rPr lang="zh-CN" altLang="en-US" sz="1600"/>
              <a:t>。同时我们还能得到一个新的迷宫矩阵</a:t>
            </a:r>
            <a:r>
              <a:rPr lang="en-US" altLang="zh-CN" sz="1600"/>
              <a:t>G2</a:t>
            </a:r>
            <a:r>
              <a:rPr lang="zh-CN" altLang="en-US" sz="1600"/>
              <a:t>（排除了所有</a:t>
            </a:r>
            <a:r>
              <a:rPr lang="en-US" altLang="zh-CN" sz="1600"/>
              <a:t>“</a:t>
            </a:r>
            <a:r>
              <a:rPr lang="zh-CN" altLang="en-US" sz="1600"/>
              <a:t>无效可走位置</a:t>
            </a:r>
            <a:r>
              <a:rPr lang="en-US" altLang="zh-CN" sz="1600"/>
              <a:t>”</a:t>
            </a:r>
            <a:r>
              <a:rPr lang="zh-CN" altLang="en-US" sz="1600"/>
              <a:t>后的新迷宫）；</a:t>
            </a:r>
            <a:endParaRPr lang="zh-CN" altLang="en-US" sz="1600"/>
          </a:p>
          <a:p>
            <a:r>
              <a:rPr lang="en-US" altLang="zh-CN" sz="1600"/>
              <a:t>6.</a:t>
            </a:r>
            <a:r>
              <a:rPr lang="zh-CN" altLang="en-US" sz="1600"/>
              <a:t>新迷宫不存在</a:t>
            </a:r>
            <a:r>
              <a:rPr lang="en-US" altLang="zh-CN" sz="1600"/>
              <a:t>“</a:t>
            </a:r>
            <a:r>
              <a:rPr lang="zh-CN" altLang="en-US" sz="1600"/>
              <a:t>无效可走位置</a:t>
            </a:r>
            <a:r>
              <a:rPr lang="en-US" altLang="zh-CN" sz="1600"/>
              <a:t>”</a:t>
            </a:r>
            <a:r>
              <a:rPr lang="zh-CN" altLang="en-US" sz="1600"/>
              <a:t>，接下来便需要减少走通步数，即路线长度，那么我们这次重走之前的路，如果两条路径</a:t>
            </a:r>
            <a:r>
              <a:rPr lang="en-US" altLang="zh-CN" sz="1600"/>
              <a:t>L1,L2</a:t>
            </a:r>
            <a:r>
              <a:rPr lang="zh-CN" altLang="en-US" sz="1600"/>
              <a:t>经过不同路径到达某个相同的点（非终点），那么就要比较</a:t>
            </a:r>
            <a:r>
              <a:rPr lang="en-US" altLang="zh-CN" sz="1600"/>
              <a:t>L1,L2</a:t>
            </a:r>
            <a:r>
              <a:rPr lang="zh-CN" altLang="en-US" sz="1600"/>
              <a:t>既走长度，对较长者的非</a:t>
            </a:r>
            <a:r>
              <a:rPr lang="en-US" altLang="zh-CN" sz="1600"/>
              <a:t>L1,L2</a:t>
            </a:r>
            <a:r>
              <a:rPr lang="zh-CN" altLang="en-US" sz="1600"/>
              <a:t>公共部分标记为</a:t>
            </a:r>
            <a:r>
              <a:rPr lang="en-US" altLang="zh-CN" sz="1600"/>
              <a:t>"T"</a:t>
            </a:r>
            <a:r>
              <a:rPr lang="zh-CN" altLang="en-US" sz="1600"/>
              <a:t>，以此类推，最后会得到一组新解</a:t>
            </a:r>
            <a:r>
              <a:rPr lang="en-US" altLang="zh-CN" sz="1600"/>
              <a:t>L1*,L2*...</a:t>
            </a:r>
            <a:r>
              <a:rPr lang="zh-CN" altLang="en-US" sz="1600"/>
              <a:t>它们的特点是，终点相同（显然），最初可能存在重合路径，然而一旦分离后，终点之前不会再有交点，同时也会得到可走位置更加少的迷宫矩阵</a:t>
            </a:r>
            <a:r>
              <a:rPr lang="en-US" altLang="zh-CN" sz="1600"/>
              <a:t>G3</a:t>
            </a:r>
            <a:r>
              <a:rPr lang="zh-CN" altLang="en-US" sz="1600"/>
              <a:t>（</a:t>
            </a:r>
            <a:r>
              <a:rPr lang="en-US" altLang="zh-CN" sz="1600"/>
              <a:t>O(G3)&lt;=O(G2)</a:t>
            </a:r>
            <a:r>
              <a:rPr lang="zh-CN" altLang="en-US" sz="1600"/>
              <a:t>）；</a:t>
            </a:r>
            <a:endParaRPr lang="zh-CN" altLang="en-US" sz="1600"/>
          </a:p>
          <a:p>
            <a:r>
              <a:rPr lang="en-US" altLang="zh-CN" sz="1600"/>
              <a:t>7.</a:t>
            </a:r>
            <a:r>
              <a:rPr lang="zh-CN" altLang="en-US" sz="1600"/>
              <a:t>对</a:t>
            </a:r>
            <a:r>
              <a:rPr lang="en-US" altLang="zh-CN" sz="1600"/>
              <a:t>G3</a:t>
            </a:r>
            <a:r>
              <a:rPr lang="zh-CN" altLang="en-US" sz="1600"/>
              <a:t>中有限条路径直接计算长度，比较最小值，得到最优路径。（因为经过两次筛选，直接计算所有路径长度的计算量大幅降低，大概在</a:t>
            </a:r>
            <a:r>
              <a:rPr lang="en-US" altLang="zh-CN" sz="1600"/>
              <a:t>O(lnm)~O(m)</a:t>
            </a:r>
            <a:r>
              <a:rPr lang="zh-CN" altLang="en-US" sz="1600"/>
              <a:t>）；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3292475" y="2106930"/>
            <a:ext cx="5148580" cy="169862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3900"/>
              <a:t>感谢聆听</a:t>
            </a:r>
            <a:endParaRPr lang="zh-CN" altLang="en-US" sz="3900"/>
          </a:p>
          <a:p>
            <a:pPr indent="0" algn="ctr" fontAlgn="auto">
              <a:lnSpc>
                <a:spcPct val="150000"/>
              </a:lnSpc>
            </a:pPr>
            <a:r>
              <a:rPr lang="en-US" altLang="zh-CN" sz="3900"/>
              <a:t>Thanks</a:t>
            </a:r>
            <a:endParaRPr lang="en-US" altLang="zh-CN" sz="39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4"/>
</p:tagLst>
</file>

<file path=ppt/tags/tag1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2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3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4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5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"/>
</p:tagLst>
</file>

<file path=ppt/tags/tag15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1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5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5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6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6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6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6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7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8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4"/>
</p:tagLst>
</file>

<file path=ppt/tags/tag19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6"/>
</p:tagLst>
</file>

<file path=ppt/tags/tag19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2"/>
</p:tagLst>
</file>

<file path=ppt/tags/tag19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65"/>
</p:tagLst>
</file>

<file path=ppt/tags/tag19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65"/>
</p:tagLst>
</file>

<file path=ppt/tags/tag20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65"/>
  <p:tag name="KSO_WM_TEMPLATE_CATEGORY" val="custom"/>
  <p:tag name="KSO_WM_TEMPLATE_MASTER_TYPE" val="0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38665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866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38665"/>
</p:tagLst>
</file>

<file path=ppt/tags/tag206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07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08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09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10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11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12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13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14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15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16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17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18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19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20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21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22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23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24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25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26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27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28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29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230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1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2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3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4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5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6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7.xml><?xml version="1.0" encoding="utf-8"?>
<p:tagLst xmlns:p="http://schemas.openxmlformats.org/presentationml/2006/main">
  <p:tag name="KSO_WM_SLIDE_ID" val="custom2023866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65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</p:tagLst>
</file>

<file path=ppt/tags/tag238.xml><?xml version="1.0" encoding="utf-8"?>
<p:tagLst xmlns:p="http://schemas.openxmlformats.org/presentationml/2006/main">
  <p:tag name="resource_record_key" val="{&quot;65&quot;:[20205081],&quot;71&quot;:[7623568014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12092C"/>
      </a:dk2>
      <a:lt2>
        <a:srgbClr val="EEF4F7"/>
      </a:lt2>
      <a:accent1>
        <a:srgbClr val="524F9B"/>
      </a:accent1>
      <a:accent2>
        <a:srgbClr val="8C4689"/>
      </a:accent2>
      <a:accent3>
        <a:srgbClr val="A567C5"/>
      </a:accent3>
      <a:accent4>
        <a:srgbClr val="B793CA"/>
      </a:accent4>
      <a:accent5>
        <a:srgbClr val="6DA3C1"/>
      </a:accent5>
      <a:accent6>
        <a:srgbClr val="53AAA3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CIDFont"/>
        <a:ea typeface="CIDFon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渐变几何通用模板">
  <a:themeElements>
    <a:clrScheme name="自定义 6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A854C"/>
      </a:accent1>
      <a:accent2>
        <a:srgbClr val="E0A366"/>
      </a:accent2>
      <a:accent3>
        <a:srgbClr val="E6AD00"/>
      </a:accent3>
      <a:accent4>
        <a:srgbClr val="83C937"/>
      </a:accent4>
      <a:accent5>
        <a:srgbClr val="00B050"/>
      </a:accent5>
      <a:accent6>
        <a:srgbClr val="00B0F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6391</Words>
  <Application>WPS 演示</Application>
  <PresentationFormat>宽屏</PresentationFormat>
  <Paragraphs>248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CIDFont</vt:lpstr>
      <vt:lpstr>Segoe Print</vt:lpstr>
      <vt:lpstr>CIDFont</vt:lpstr>
      <vt:lpstr>黑体</vt:lpstr>
      <vt:lpstr>汉仪行楷简</vt:lpstr>
      <vt:lpstr>楷体</vt:lpstr>
      <vt:lpstr>华文仿宋</vt:lpstr>
      <vt:lpstr>华文中宋</vt:lpstr>
      <vt:lpstr>华文楷体</vt:lpstr>
      <vt:lpstr>BatangChe</vt:lpstr>
      <vt:lpstr>WPS</vt:lpstr>
      <vt:lpstr>1_WPS</vt:lpstr>
      <vt:lpstr>简约风渐变几何通用模板</vt:lpstr>
      <vt:lpstr>PowerPoint 演示文稿</vt:lpstr>
      <vt:lpstr>PowerPoint 演示文稿</vt:lpstr>
      <vt:lpstr>1. 矩阵与坐标系变换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李泽阳</cp:lastModifiedBy>
  <cp:revision>173</cp:revision>
  <dcterms:created xsi:type="dcterms:W3CDTF">2019-06-19T02:08:00Z</dcterms:created>
  <dcterms:modified xsi:type="dcterms:W3CDTF">2025-10-10T12:35:51Z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96CA4422A738456CAFE26DF37C6EF4CA_11</vt:lpwstr>
  </property>
</Properties>
</file>